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 varScale="1">
        <p:scale>
          <a:sx n="85" d="100"/>
          <a:sy n="85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cover page and abstract.</a:t>
            </a:r>
          </a:p>
          <a:p>
            <a:r>
              <a:t>- Embedded PYNQ-Z2 board and university logo images were extracted from the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"מטרת הפרויקט", "מימוש המערכת" and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 "דרישות המערכת".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"סכמת בלוקים", "ארכיטקטורת החומרה" and "מימוש התוכנה".</a:t>
            </a:r>
          </a:p>
          <a:p>
            <a:r>
              <a:t>- Diagram rebuilt as editable PowerPoint shapes based on the project's block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"רשימת ציוד", "מימוש המערכת" and hardware component subsections.</a:t>
            </a:r>
          </a:p>
          <a:p>
            <a:r>
              <a:t>- Component images were extracted from the project document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figure 21 "תרשים חיבורים כללי של המערכת".</a:t>
            </a:r>
          </a:p>
          <a:p>
            <a:r>
              <a:t>- The slide preserves the original detailed connection schematic as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"הפעולה הכללית של המערכת", "מצבי פעולה של המערכת" and "הלולאה הראשית של המערכת".</a:t>
            </a:r>
          </a:p>
          <a:p>
            <a:r>
              <a:t>- Simplified flowchart rebuilt as editable PowerPoint shapes from the detailed software flow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"עיבוד תמונה", "אלגוריתם Haar Cascade", "אלגוריתם LBPH" and "מימוש התוכנה".</a:t>
            </a:r>
          </a:p>
          <a:p>
            <a:r>
              <a:t>- Images correspond to the document's computer vision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"תכנון בקר מנוע הצעד", "בדיקות וסימולציות בסביבת VIVADO" and figure 22.</a:t>
            </a:r>
          </a:p>
          <a:p>
            <a:r>
              <a:t>- Vivado screenshot extracted from the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"לוח מקשים", "מימוש המערכת", "תכנון בקר מנוע הצעד" and keypad/Vivado material.</a:t>
            </a:r>
          </a:p>
          <a:p>
            <a:r>
              <a:t>- VHDL snippet is a shortened explanatory structure for the keypad scan flow. The real keypad password is intentionally not shown.</a:t>
            </a:r>
          </a:p>
          <a:p>
            <a:r>
              <a:t>- Keypad photo and matrix schematic were extracted from the project document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"תכנון בקר מנוע הצעד", "בדיקות וסימולציות בסביבת VIVADO" and figure 22.</a:t>
            </a:r>
          </a:p>
          <a:p>
            <a:r>
              <a:t>- Vivado screenshot extracted from the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1814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"ניסויים ובדיקות", "בדיקות וסימולציות בסביבת VIVADO", "בדיקת כלל המערכת בסביבת JUPYTER" and "תוצאות".</a:t>
            </a:r>
          </a:p>
          <a:p>
            <a:r>
              <a:t>- Prototype photo and waveform screenshot extracted from the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"תוצאות", "מסקנות" and "סיכום".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pPr rtl="0"/>
            <a:r>
              <a:t>- תכנון ומימוש מערכת מנעול חכם מבוססת זיהוי פנים באמצעות כרטיס PYNQ.docx, sections "סיכום" and "מסקנות".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8480" y="2476500"/>
            <a:ext cx="5196768" cy="3069198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79725" y="7665"/>
            <a:ext cx="7112275" cy="1328389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9AAAAEFC-F8CA-43B1-BC85-4445659B67BE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514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r" rtl="0">
              <a:lnSpc>
                <a:spcPct val="94000"/>
              </a:lnSpc>
              <a:buNone/>
              <a:defRPr lang="he-IL" altLang="en-US"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4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מערכת מנעול חכם מבוססת זיהוי פנים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75C8DC5-B6AA-44F1-82C8-94D27B0D9F88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05000"/>
              </a:lnSpc>
              <a:buNone/>
              <a:defRPr lang="he-IL" altLang="en-US"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9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מימוש על גבי כרטיס </a:t>
            </a:r>
            <a:r>
              <a:rPr lang="en-US" altLang="en-US" sz="19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PYNQ-Z2</a:t>
            </a:r>
            <a:endParaRPr lang="he-IL" altLang="en-US" sz="19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45DBDD8-4666-46ED-BED3-1FF50EA0BCAE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18000"/>
              </a:lnSpc>
              <a:buNone/>
              <a:defRPr lang="he-IL" altLang="en-US" sz="15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פרויקט גמר לתואר </a:t>
            </a:r>
            <a:r>
              <a:rPr lang="en-US" altLang="en-US" sz="1575" b="0" dirty="0" err="1">
                <a:solidFill>
                  <a:srgbClr val="526071"/>
                </a:solidFill>
                <a:latin typeface="Arial"/>
                <a:ea typeface="Arial"/>
                <a:cs typeface="Arial"/>
              </a:rPr>
              <a:t>B.Sc</a:t>
            </a:r>
            <a:endParaRPr lang="he-IL" altLang="en-US" sz="15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18000"/>
              </a:lnSpc>
              <a:buNone/>
              <a:defRPr lang="he-IL" altLang="en-US" sz="15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שם: אסובאלאו בלאיי</a:t>
            </a:r>
          </a:p>
          <a:p>
            <a:pPr>
              <a:lnSpc>
                <a:spcPct val="118000"/>
              </a:lnSpc>
              <a:buNone/>
              <a:defRPr lang="he-IL" altLang="en-US" sz="15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מנחה: </a:t>
            </a:r>
            <a:r>
              <a:rPr lang="he-IL" altLang="en-US" sz="15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רצאבי יואל פרופ'</a:t>
            </a:r>
          </a:p>
          <a:p>
            <a:pPr>
              <a:lnSpc>
                <a:spcPct val="118000"/>
              </a:lnSpc>
              <a:buNone/>
              <a:defRPr lang="he-IL" altLang="en-US" sz="15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42662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C33CEC7-DEC6-4C9D-B73C-2EC9C312B40D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מטרת הפרויקט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14A0EDA-F7D8-4B72-A2DC-2631E459C01F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B86226D-86CF-4778-999E-8B5AC63B6099}"/>
              </a:ext>
            </a:extLst>
          </p:cNvPr>
          <p:cNvSpPr>
            <a:spLocks noGrp="1"/>
          </p:cNvSpPr>
          <p:nvPr/>
        </p:nvSpPr>
        <p:spPr>
          <a:xfrm>
            <a:off x="4476750" y="1409699"/>
            <a:ext cx="6572250" cy="15891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08000"/>
              </a:lnSpc>
              <a:buNone/>
              <a:defRPr lang="he-IL" altLang="en-US"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2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הפרויקט מציג מערכת בקרת כניסה עצמאית, המחברת בין זיהוי פנים, חיישנים, מנוע ותיעוד אירועים, ומבוססת על  גבי כרטיס הפיתוח </a:t>
            </a:r>
            <a:r>
              <a:rPr lang="en-US" altLang="en-US" sz="22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PYNQ-Z2 </a:t>
            </a:r>
            <a:endParaRPr lang="en-US" sz="22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1EE0BCE6-B401-4BC1-99EF-C1958768E8BF}"/>
              </a:ext>
            </a:extLst>
          </p:cNvPr>
          <p:cNvSpPr>
            <a:spLocks noGrp="1"/>
          </p:cNvSpPr>
          <p:nvPr/>
        </p:nvSpPr>
        <p:spPr>
          <a:xfrm>
            <a:off x="1200150" y="323850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כניסה מאובטחת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9340530-2820-404C-BE33-C069ACD52B2E}"/>
              </a:ext>
            </a:extLst>
          </p:cNvPr>
          <p:cNvSpPr>
            <a:spLocks noGrp="1"/>
          </p:cNvSpPr>
          <p:nvPr/>
        </p:nvSpPr>
        <p:spPr>
          <a:xfrm>
            <a:off x="1200150" y="3943350"/>
            <a:ext cx="2609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12000"/>
              </a:lnSpc>
              <a:buNone/>
              <a:defRPr lang="he-IL" altLang="en-US" sz="15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פתיחה רק לאחר זיהוי משתמש מורשה או הזנת קוד גיבוי תקין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508DDD9B-EC49-4E5E-B4D1-F535B0BDA795}"/>
              </a:ext>
            </a:extLst>
          </p:cNvPr>
          <p:cNvSpPr>
            <a:spLocks noGrp="1"/>
          </p:cNvSpPr>
          <p:nvPr/>
        </p:nvSpPr>
        <p:spPr>
          <a:xfrm>
            <a:off x="4457700" y="323850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מימוש משולב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96E16D8-12C7-4D67-8210-B904EA6F688D}"/>
              </a:ext>
            </a:extLst>
          </p:cNvPr>
          <p:cNvSpPr>
            <a:spLocks noGrp="1"/>
          </p:cNvSpPr>
          <p:nvPr/>
        </p:nvSpPr>
        <p:spPr>
          <a:xfrm>
            <a:off x="4457700" y="3943350"/>
            <a:ext cx="2609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lang="he-IL" altLang="en-US" sz="15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ניהול המערכת באמצעות </a:t>
            </a:r>
            <a:r>
              <a:rPr lang="en-US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Python  </a:t>
            </a: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ב-</a:t>
            </a:r>
            <a:r>
              <a:rPr lang="en-US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PS </a:t>
            </a: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ושליטה במנוע באמצעות </a:t>
            </a:r>
            <a:r>
              <a:rPr lang="en-US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VHDL </a:t>
            </a: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ב-</a:t>
            </a:r>
            <a:r>
              <a:rPr lang="en-US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PL </a:t>
            </a:r>
            <a:endParaRPr lang="he-IL" altLang="en-US" sz="150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3045FFE9-A2F3-4A71-9F31-56F4318C104D}"/>
              </a:ext>
            </a:extLst>
          </p:cNvPr>
          <p:cNvSpPr>
            <a:spLocks noGrp="1"/>
          </p:cNvSpPr>
          <p:nvPr/>
        </p:nvSpPr>
        <p:spPr>
          <a:xfrm>
            <a:off x="7715250" y="323850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תגובה לאירועים 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CFEC092E-DD72-4E3B-95D1-6D1F42E469A4}"/>
              </a:ext>
            </a:extLst>
          </p:cNvPr>
          <p:cNvSpPr>
            <a:spLocks noGrp="1"/>
          </p:cNvSpPr>
          <p:nvPr/>
        </p:nvSpPr>
        <p:spPr>
          <a:xfrm>
            <a:off x="7715250" y="3943350"/>
            <a:ext cx="26098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lang="he-IL" altLang="en-US" sz="15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תיעוד, התרעות </a:t>
            </a:r>
            <a:r>
              <a:rPr lang="en-US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Telegram </a:t>
            </a:r>
            <a:r>
              <a:rPr lang="he-IL" altLang="en-US" sz="150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ונעילה זמנית לאחר ניסיונות חריגים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6FBFC39A-E977-4D73-B9EE-4E7365CA04A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6655B09-5C64-406F-98BB-E9E8FF1A609A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0179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4DC54AF9-F39C-4815-8AE9-DADBBA029CBC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דרישות המערכת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408101FC-9CF6-4CE2-885E-7BF0F3A2BD77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DA95EFE8-A1DE-46BE-92DD-30DC3BEC2D34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זיהוי פנים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E3C3EE6-AA3E-4CD8-B4AE-2EADCB363940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OpenCV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526071"/>
                </a:solidFill>
                <a:latin typeface="Arial"/>
                <a:ea typeface="Arial"/>
                <a:cs typeface="Arial"/>
              </a:rPr>
              <a:t>Haar</a:t>
            </a: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Cascade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LBPH</a:t>
            </a:r>
          </a:p>
          <a:p>
            <a:pPr algn="ctr" rtl="0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זיהוי משתמש מורשה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AF12EEF9-69DF-402C-8E1E-7D9FF0248F6D}"/>
              </a:ext>
            </a:extLst>
          </p:cNvPr>
          <p:cNvSpPr>
            <a:spLocks noGrp="1"/>
          </p:cNvSpPr>
          <p:nvPr/>
        </p:nvSpPr>
        <p:spPr>
          <a:xfrm>
            <a:off x="4438650" y="14287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הפעלה לפי אירועים 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C683A00C-727C-4547-AD48-276F64FCB070}"/>
              </a:ext>
            </a:extLst>
          </p:cNvPr>
          <p:cNvSpPr>
            <a:spLocks noGrp="1"/>
          </p:cNvSpPr>
          <p:nvPr/>
        </p:nvSpPr>
        <p:spPr>
          <a:xfrm>
            <a:off x="4438650" y="20955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צילום וזיהוי פנים לאחר גילוי תנועה באמצעות חיישן 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PIR</a:t>
            </a:r>
            <a:endParaRPr lang="he-IL" alt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C634510E-EE9A-42BD-BB22-7A20B020F04C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בקרת מנוע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41937B9-8668-4D95-A3DD-DA2C0040917D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מנוע צעד 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28BYJ-48 </a:t>
            </a: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עם דרייבר 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ULN2003 </a:t>
            </a: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ובקר 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VHDL </a:t>
            </a:r>
            <a:endParaRPr lang="he-IL" alt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5A11914E-4EE3-4547-A4BC-E6C8D2E42313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גיבוי ידני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8C581B1-C1AA-4F3E-A86B-DABA310C1EA9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פתיחה באמצעות סיסמה תקינה בלוח המקשים.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6C3ED762-2ED7-4930-8FDB-71699088E3C9}"/>
              </a:ext>
            </a:extLst>
          </p:cNvPr>
          <p:cNvSpPr>
            <a:spLocks noGrp="1"/>
          </p:cNvSpPr>
          <p:nvPr/>
        </p:nvSpPr>
        <p:spPr>
          <a:xfrm>
            <a:off x="4438650" y="32956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זיהוי מצב דלת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A516AEF-D1D3-4299-8AD2-AD46B3523053}"/>
              </a:ext>
            </a:extLst>
          </p:cNvPr>
          <p:cNvSpPr>
            <a:spLocks noGrp="1"/>
          </p:cNvSpPr>
          <p:nvPr/>
        </p:nvSpPr>
        <p:spPr>
          <a:xfrm>
            <a:off x="4438650" y="39624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חיישן 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MC-38 </a:t>
            </a: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מונע נעילה בזמן שהדלת פתוחה.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BD68502D-A91D-471C-9B95-4243D3ECC6F3}"/>
              </a:ext>
            </a:extLst>
          </p:cNvPr>
          <p:cNvSpPr>
            <a:spLocks noGrp="1"/>
          </p:cNvSpPr>
          <p:nvPr/>
        </p:nvSpPr>
        <p:spPr>
          <a:xfrm>
            <a:off x="8001000" y="3295650"/>
            <a:ext cx="3009900" cy="514350"/>
          </a:xfrm>
          <a:prstGeom prst="roundRect">
            <a:avLst>
              <a:gd name="adj" fmla="val 14815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7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אבטחה ותיעוד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FDE63022-4DD8-469B-9438-DBB8405287C7}"/>
              </a:ext>
            </a:extLst>
          </p:cNvPr>
          <p:cNvSpPr>
            <a:spLocks noGrp="1"/>
          </p:cNvSpPr>
          <p:nvPr/>
        </p:nvSpPr>
        <p:spPr>
          <a:xfrm>
            <a:off x="8001000" y="3962400"/>
            <a:ext cx="3009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Telegram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Lockout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CSV</a:t>
            </a:r>
          </a:p>
          <a:p>
            <a:pPr algn="ctr" rtl="0">
              <a:lnSpc>
                <a:spcPct val="110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גישה לאירועים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9482A7D-F99C-460A-AAA8-261DA7ED1C0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F5CEA7C-9E24-4EF1-ACC2-783B7EE38386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4662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B95D4CB7-F9E0-462F-B0E4-9132FE231583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ארכיטקטורה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C7CBE6E2-951B-4082-8AA1-B2D6622E5E45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AF1009E2-8632-4580-9493-F190F211DCF4}"/>
              </a:ext>
            </a:extLst>
          </p:cNvPr>
          <p:cNvSpPr>
            <a:spLocks noGrp="1"/>
          </p:cNvSpPr>
          <p:nvPr/>
        </p:nvSpPr>
        <p:spPr>
          <a:xfrm>
            <a:off x="4762500" y="16573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11827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PYNQ-Z2</a:t>
            </a:r>
          </a:p>
          <a:p>
            <a:pPr algn="ctr">
              <a:lnSpc>
                <a:spcPct val="105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Zynq-7000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DA795C43-CF41-42EE-944C-4638C147DAA6}"/>
              </a:ext>
            </a:extLst>
          </p:cNvPr>
          <p:cNvSpPr>
            <a:spLocks noGrp="1"/>
          </p:cNvSpPr>
          <p:nvPr/>
        </p:nvSpPr>
        <p:spPr>
          <a:xfrm>
            <a:off x="3905250" y="3276600"/>
            <a:ext cx="2190750" cy="140970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PS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Python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OpenCV</a:t>
            </a:r>
          </a:p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Telegram</a:t>
            </a:r>
            <a:r>
              <a:rPr lang="en-US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לוגים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055A1456-9E41-4592-A024-50FB5058006C}"/>
              </a:ext>
            </a:extLst>
          </p:cNvPr>
          <p:cNvSpPr>
            <a:spLocks noGrp="1"/>
          </p:cNvSpPr>
          <p:nvPr/>
        </p:nvSpPr>
        <p:spPr>
          <a:xfrm>
            <a:off x="6429375" y="3276600"/>
            <a:ext cx="2190750" cy="1409700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PL / FPGA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VHDL</a:t>
            </a:r>
          </a:p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בקר מנוע</a:t>
            </a:r>
          </a:p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GPIO ממשקי 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E8735D4-6680-4B63-876B-F0D8F7D2A9E6}"/>
              </a:ext>
            </a:extLst>
          </p:cNvPr>
          <p:cNvSpPr>
            <a:spLocks noGrp="1"/>
          </p:cNvSpPr>
          <p:nvPr/>
        </p:nvSpPr>
        <p:spPr>
          <a:xfrm>
            <a:off x="9667875" y="1352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קלטים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83970D16-F545-4946-9EFE-D04072B26A50}"/>
              </a:ext>
            </a:extLst>
          </p:cNvPr>
          <p:cNvSpPr>
            <a:spLocks noGrp="1"/>
          </p:cNvSpPr>
          <p:nvPr/>
        </p:nvSpPr>
        <p:spPr>
          <a:xfrm>
            <a:off x="1066800" y="1352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3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פלטים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ECA2392D-A7C7-421F-A879-E61524927FAA}"/>
              </a:ext>
            </a:extLst>
          </p:cNvPr>
          <p:cNvSpPr>
            <a:spLocks noGrp="1"/>
          </p:cNvSpPr>
          <p:nvPr/>
        </p:nvSpPr>
        <p:spPr>
          <a:xfrm>
            <a:off x="9144000" y="179070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88443" lnSpcReduction="20000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PIR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חיישן תנועה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FCA1C6D8-479B-4244-9300-DD575DCB635E}"/>
              </a:ext>
            </a:extLst>
          </p:cNvPr>
          <p:cNvSpPr>
            <a:spLocks noGrp="1"/>
          </p:cNvSpPr>
          <p:nvPr/>
        </p:nvSpPr>
        <p:spPr>
          <a:xfrm>
            <a:off x="9144000" y="257175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80943" lnSpcReduction="20000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LM393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אור</a:t>
            </a:r>
            <a:r>
              <a:rPr lang="en-US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חיישן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7E20414D-EDE6-4E35-9F12-92756274D8A2}"/>
              </a:ext>
            </a:extLst>
          </p:cNvPr>
          <p:cNvSpPr>
            <a:spLocks noGrp="1"/>
          </p:cNvSpPr>
          <p:nvPr/>
        </p:nvSpPr>
        <p:spPr>
          <a:xfrm>
            <a:off x="9144000" y="335280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USB  מצלמת 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887CF49B-38CB-480C-B0C3-04369AD9F40E}"/>
              </a:ext>
            </a:extLst>
          </p:cNvPr>
          <p:cNvSpPr>
            <a:spLocks noGrp="1"/>
          </p:cNvSpPr>
          <p:nvPr/>
        </p:nvSpPr>
        <p:spPr>
          <a:xfrm>
            <a:off x="9144000" y="413385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לוח מקשים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C4A240A9-311F-410A-BAE9-C097917B6985}"/>
              </a:ext>
            </a:extLst>
          </p:cNvPr>
          <p:cNvSpPr>
            <a:spLocks noGrp="1"/>
          </p:cNvSpPr>
          <p:nvPr/>
        </p:nvSpPr>
        <p:spPr>
          <a:xfrm>
            <a:off x="9144000" y="491490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80943" lnSpcReduction="20000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MC-38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מצב דלת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523C0973-97B8-4955-86C1-2F106E67CFE4}"/>
              </a:ext>
            </a:extLst>
          </p:cNvPr>
          <p:cNvSpPr>
            <a:spLocks noGrp="1"/>
          </p:cNvSpPr>
          <p:nvPr/>
        </p:nvSpPr>
        <p:spPr>
          <a:xfrm>
            <a:off x="1409700" y="20955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  <p:txBody>
          <a:bodyPr wrap="square" lIns="114300" tIns="95250" rIns="114300" bIns="95250" anchor="ctr">
            <a:normAutofit fontScale="86670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ULN2003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מנוע צעד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E5E030AF-C649-47FE-8787-761E2E0EF96E}"/>
              </a:ext>
            </a:extLst>
          </p:cNvPr>
          <p:cNvSpPr>
            <a:spLocks noGrp="1"/>
          </p:cNvSpPr>
          <p:nvPr/>
        </p:nvSpPr>
        <p:spPr>
          <a:xfrm>
            <a:off x="1409700" y="31242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8667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ממסר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תאורה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34136068-200E-457C-89DB-09E817220ED0}"/>
              </a:ext>
            </a:extLst>
          </p:cNvPr>
          <p:cNvSpPr>
            <a:spLocks noGrp="1"/>
          </p:cNvSpPr>
          <p:nvPr/>
        </p:nvSpPr>
        <p:spPr>
          <a:xfrm>
            <a:off x="1409700" y="41529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8667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זמזם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LED</a:t>
            </a:r>
            <a:r>
              <a:rPr lang="en-US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ונורות</a:t>
            </a:r>
          </a:p>
        </p:txBody>
      </p:sp>
      <p:sp>
        <p:nvSpPr>
          <p:cNvPr id="17" name="חץ: למטה 16">
            <a:extLst>
              <a:ext uri="{FF2B5EF4-FFF2-40B4-BE49-F238E27FC236}">
                <a16:creationId xmlns:a16="http://schemas.microsoft.com/office/drawing/2014/main" id="{44842CCE-2DD5-4427-AA56-67BE045211BA}"/>
              </a:ext>
            </a:extLst>
          </p:cNvPr>
          <p:cNvSpPr>
            <a:spLocks noGrp="1"/>
          </p:cNvSpPr>
          <p:nvPr/>
        </p:nvSpPr>
        <p:spPr>
          <a:xfrm>
            <a:off x="5619750" y="2819400"/>
            <a:ext cx="266700" cy="323850"/>
          </a:xfrm>
          <a:prstGeom prst="down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8" name="חץ: למטה 17">
            <a:extLst>
              <a:ext uri="{FF2B5EF4-FFF2-40B4-BE49-F238E27FC236}">
                <a16:creationId xmlns:a16="http://schemas.microsoft.com/office/drawing/2014/main" id="{15950CE7-E17B-4BA8-BADF-C4DC4F4A95F5}"/>
              </a:ext>
            </a:extLst>
          </p:cNvPr>
          <p:cNvSpPr>
            <a:spLocks noGrp="1"/>
          </p:cNvSpPr>
          <p:nvPr/>
        </p:nvSpPr>
        <p:spPr>
          <a:xfrm>
            <a:off x="7239000" y="2819400"/>
            <a:ext cx="266700" cy="323850"/>
          </a:xfrm>
          <a:prstGeom prst="downArrow">
            <a:avLst/>
          </a:prstGeom>
          <a:solidFill>
            <a:srgbClr val="6D28D9"/>
          </a:solidFill>
          <a:ln w="4763">
            <a:solidFill>
              <a:srgbClr val="6D28D9"/>
            </a:solidFill>
            <a:prstDash val="solid"/>
          </a:ln>
        </p:spPr>
      </p:sp>
      <p:sp>
        <p:nvSpPr>
          <p:cNvPr id="19" name="חץ: ימינה 18">
            <a:extLst>
              <a:ext uri="{FF2B5EF4-FFF2-40B4-BE49-F238E27FC236}">
                <a16:creationId xmlns:a16="http://schemas.microsoft.com/office/drawing/2014/main" id="{4B33090F-7041-428A-ACD9-11305A6AA98E}"/>
              </a:ext>
            </a:extLst>
          </p:cNvPr>
          <p:cNvSpPr>
            <a:spLocks noGrp="1"/>
          </p:cNvSpPr>
          <p:nvPr/>
        </p:nvSpPr>
        <p:spPr>
          <a:xfrm>
            <a:off x="6153150" y="3905250"/>
            <a:ext cx="228600" cy="209550"/>
          </a:xfrm>
          <a:prstGeom prst="rightArrow">
            <a:avLst/>
          </a:prstGeom>
          <a:solidFill>
            <a:srgbClr val="526071"/>
          </a:solidFill>
          <a:ln w="4763">
            <a:solidFill>
              <a:srgbClr val="526071"/>
            </a:solidFill>
            <a:prstDash val="solid"/>
          </a:ln>
        </p:spPr>
      </p:sp>
      <p:sp>
        <p:nvSpPr>
          <p:cNvPr id="20" name="חץ: שמאלה 19">
            <a:extLst>
              <a:ext uri="{FF2B5EF4-FFF2-40B4-BE49-F238E27FC236}">
                <a16:creationId xmlns:a16="http://schemas.microsoft.com/office/drawing/2014/main" id="{A483F2B8-3AB6-40D9-887C-FEFA2D353813}"/>
              </a:ext>
            </a:extLst>
          </p:cNvPr>
          <p:cNvSpPr>
            <a:spLocks noGrp="1"/>
          </p:cNvSpPr>
          <p:nvPr/>
        </p:nvSpPr>
        <p:spPr>
          <a:xfrm>
            <a:off x="8648700" y="1981200"/>
            <a:ext cx="3238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21" name="חץ: שמאלה 20">
            <a:extLst>
              <a:ext uri="{FF2B5EF4-FFF2-40B4-BE49-F238E27FC236}">
                <a16:creationId xmlns:a16="http://schemas.microsoft.com/office/drawing/2014/main" id="{A8C78633-A1A0-4483-AF38-E1A051DA9D7B}"/>
              </a:ext>
            </a:extLst>
          </p:cNvPr>
          <p:cNvSpPr>
            <a:spLocks noGrp="1"/>
          </p:cNvSpPr>
          <p:nvPr/>
        </p:nvSpPr>
        <p:spPr>
          <a:xfrm>
            <a:off x="8648700" y="2762250"/>
            <a:ext cx="3238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22" name="חץ: שמאלה 21">
            <a:extLst>
              <a:ext uri="{FF2B5EF4-FFF2-40B4-BE49-F238E27FC236}">
                <a16:creationId xmlns:a16="http://schemas.microsoft.com/office/drawing/2014/main" id="{BE8DCD94-BE01-46EB-AC04-DD8DBC6AEFF2}"/>
              </a:ext>
            </a:extLst>
          </p:cNvPr>
          <p:cNvSpPr>
            <a:spLocks noGrp="1"/>
          </p:cNvSpPr>
          <p:nvPr/>
        </p:nvSpPr>
        <p:spPr>
          <a:xfrm>
            <a:off x="8648700" y="3543300"/>
            <a:ext cx="3238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23" name="חץ: שמאלה 22">
            <a:extLst>
              <a:ext uri="{FF2B5EF4-FFF2-40B4-BE49-F238E27FC236}">
                <a16:creationId xmlns:a16="http://schemas.microsoft.com/office/drawing/2014/main" id="{4995B828-331E-4F5C-AA61-3203E8DF2060}"/>
              </a:ext>
            </a:extLst>
          </p:cNvPr>
          <p:cNvSpPr>
            <a:spLocks noGrp="1"/>
          </p:cNvSpPr>
          <p:nvPr/>
        </p:nvSpPr>
        <p:spPr>
          <a:xfrm>
            <a:off x="8648700" y="4324350"/>
            <a:ext cx="323850" cy="171450"/>
          </a:xfrm>
          <a:prstGeom prst="leftArrow">
            <a:avLst/>
          </a:prstGeom>
          <a:solidFill>
            <a:srgbClr val="6D28D9"/>
          </a:solidFill>
          <a:ln w="4763">
            <a:solidFill>
              <a:srgbClr val="6D28D9"/>
            </a:solidFill>
            <a:prstDash val="solid"/>
          </a:ln>
        </p:spPr>
      </p:sp>
      <p:sp>
        <p:nvSpPr>
          <p:cNvPr id="24" name="חץ: שמאלה 23">
            <a:extLst>
              <a:ext uri="{FF2B5EF4-FFF2-40B4-BE49-F238E27FC236}">
                <a16:creationId xmlns:a16="http://schemas.microsoft.com/office/drawing/2014/main" id="{3F370B52-409B-4543-9C1C-9FE131FEDC6F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323850" cy="171450"/>
          </a:xfrm>
          <a:prstGeom prst="leftArrow">
            <a:avLst/>
          </a:prstGeom>
          <a:solidFill>
            <a:srgbClr val="6D28D9"/>
          </a:solidFill>
          <a:ln w="4763">
            <a:solidFill>
              <a:srgbClr val="6D28D9"/>
            </a:solidFill>
            <a:prstDash val="solid"/>
          </a:ln>
        </p:spPr>
      </p:sp>
      <p:sp>
        <p:nvSpPr>
          <p:cNvPr id="25" name="חץ: שמאלה 24">
            <a:extLst>
              <a:ext uri="{FF2B5EF4-FFF2-40B4-BE49-F238E27FC236}">
                <a16:creationId xmlns:a16="http://schemas.microsoft.com/office/drawing/2014/main" id="{6B9F1E81-EE7D-464B-A086-2C5D10109582}"/>
              </a:ext>
            </a:extLst>
          </p:cNvPr>
          <p:cNvSpPr>
            <a:spLocks noGrp="1"/>
          </p:cNvSpPr>
          <p:nvPr/>
        </p:nvSpPr>
        <p:spPr>
          <a:xfrm>
            <a:off x="3286125" y="2324100"/>
            <a:ext cx="323850" cy="171450"/>
          </a:xfrm>
          <a:prstGeom prst="leftArrow">
            <a:avLst/>
          </a:prstGeom>
          <a:solidFill>
            <a:srgbClr val="6D28D9"/>
          </a:solidFill>
          <a:ln w="4763">
            <a:solidFill>
              <a:srgbClr val="6D28D9"/>
            </a:solidFill>
            <a:prstDash val="solid"/>
          </a:ln>
        </p:spPr>
      </p:sp>
      <p:sp>
        <p:nvSpPr>
          <p:cNvPr id="26" name="חץ: שמאלה 25">
            <a:extLst>
              <a:ext uri="{FF2B5EF4-FFF2-40B4-BE49-F238E27FC236}">
                <a16:creationId xmlns:a16="http://schemas.microsoft.com/office/drawing/2014/main" id="{013EBD07-12C5-4D05-82DE-9E22B5CD61DA}"/>
              </a:ext>
            </a:extLst>
          </p:cNvPr>
          <p:cNvSpPr>
            <a:spLocks noGrp="1"/>
          </p:cNvSpPr>
          <p:nvPr/>
        </p:nvSpPr>
        <p:spPr>
          <a:xfrm>
            <a:off x="3286125" y="3352800"/>
            <a:ext cx="323850" cy="171450"/>
          </a:xfrm>
          <a:prstGeom prst="left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27" name="חץ: שמאלה 26">
            <a:extLst>
              <a:ext uri="{FF2B5EF4-FFF2-40B4-BE49-F238E27FC236}">
                <a16:creationId xmlns:a16="http://schemas.microsoft.com/office/drawing/2014/main" id="{B11DED58-75B7-4931-A98E-006D6FBAC92C}"/>
              </a:ext>
            </a:extLst>
          </p:cNvPr>
          <p:cNvSpPr>
            <a:spLocks noGrp="1"/>
          </p:cNvSpPr>
          <p:nvPr/>
        </p:nvSpPr>
        <p:spPr>
          <a:xfrm>
            <a:off x="3286125" y="4381500"/>
            <a:ext cx="323850" cy="171450"/>
          </a:xfrm>
          <a:prstGeom prst="left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16D3929B-6FDD-4B56-A507-8C324F6B5842}"/>
              </a:ext>
            </a:extLst>
          </p:cNvPr>
          <p:cNvSpPr>
            <a:spLocks noGrp="1"/>
          </p:cNvSpPr>
          <p:nvPr/>
        </p:nvSpPr>
        <p:spPr>
          <a:xfrm>
            <a:off x="1352550" y="53340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Telegram Bot API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1BB74393-3097-4C61-AB93-806E377849EE}"/>
              </a:ext>
            </a:extLst>
          </p:cNvPr>
          <p:cNvSpPr>
            <a:spLocks noGrp="1"/>
          </p:cNvSpPr>
          <p:nvPr/>
        </p:nvSpPr>
        <p:spPr>
          <a:xfrm>
            <a:off x="3905250" y="5467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Network / HTTPS</a:t>
            </a:r>
          </a:p>
        </p:txBody>
      </p:sp>
      <p:sp>
        <p:nvSpPr>
          <p:cNvPr id="30" name="חץ: שמאלה 29">
            <a:extLst>
              <a:ext uri="{FF2B5EF4-FFF2-40B4-BE49-F238E27FC236}">
                <a16:creationId xmlns:a16="http://schemas.microsoft.com/office/drawing/2014/main" id="{A692ED82-61D2-4D30-9173-D88EEE47C1B3}"/>
              </a:ext>
            </a:extLst>
          </p:cNvPr>
          <p:cNvSpPr>
            <a:spLocks noGrp="1"/>
          </p:cNvSpPr>
          <p:nvPr/>
        </p:nvSpPr>
        <p:spPr>
          <a:xfrm>
            <a:off x="3790950" y="5657850"/>
            <a:ext cx="3238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EEE35905-0348-4BDF-99E7-7293B9476F0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8698C2DE-BD7F-45E6-AD2E-CB746DE44B85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042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800831CD-6431-424B-8A4E-1F48B3E24FB8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רכיבי המערכת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C91ECDCF-A305-4E5B-9165-D408B8425BF5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pic>
        <p:nvPicPr>
          <p:cNvPr id="24" name="תמונה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1606152"/>
            <a:ext cx="2076450" cy="1226346"/>
          </a:xfrm>
          <a:prstGeom prst="rect">
            <a:avLst/>
          </a:prstGeom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683A5D41-ED8C-4197-9CD8-2192699DA425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2076450" cy="47625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9566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ליבת הבקרה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9E69078-C5FC-4D0C-816E-06F2370BC425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20764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</a:t>
            </a: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Python</a:t>
            </a:r>
          </a:p>
          <a:p>
            <a:pPr algn="ctr">
              <a:lnSpc>
                <a:spcPct val="112000"/>
              </a:lnSpc>
              <a:buNone/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חיבור ל</a:t>
            </a:r>
            <a:r>
              <a:rPr lang="he-IL" altLang="en-US" sz="1275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en-US" sz="1275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PL</a:t>
            </a:r>
            <a:endParaRPr lang="he-IL" altLang="en-US" sz="12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" name="תמונה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38550" y="1527608"/>
            <a:ext cx="2076450" cy="1383435"/>
          </a:xfrm>
          <a:prstGeom prst="rect">
            <a:avLst/>
          </a:prstGeom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6CB515BF-E375-41B9-9FD6-6910A90A3118}"/>
              </a:ext>
            </a:extLst>
          </p:cNvPr>
          <p:cNvSpPr>
            <a:spLocks noGrp="1"/>
          </p:cNvSpPr>
          <p:nvPr/>
        </p:nvSpPr>
        <p:spPr>
          <a:xfrm>
            <a:off x="3638550" y="3238500"/>
            <a:ext cx="2076450" cy="47625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566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חיישנים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A6B1D5B-F2CA-4564-AFD0-F61622EE961D}"/>
              </a:ext>
            </a:extLst>
          </p:cNvPr>
          <p:cNvSpPr>
            <a:spLocks noGrp="1"/>
          </p:cNvSpPr>
          <p:nvPr/>
        </p:nvSpPr>
        <p:spPr>
          <a:xfrm>
            <a:off x="3638550" y="3886200"/>
            <a:ext cx="20764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PIR</a:t>
            </a: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LM393</a:t>
            </a: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MC-38</a:t>
            </a:r>
          </a:p>
        </p:txBody>
      </p:sp>
      <p:pic>
        <p:nvPicPr>
          <p:cNvPr id="30" name="תמונה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2700" y="1430596"/>
            <a:ext cx="2076450" cy="1577458"/>
          </a:xfrm>
          <a:prstGeom prst="rect">
            <a:avLst/>
          </a:prstGeom>
        </p:spPr>
      </p:pic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3A3D0B9A-EEDC-4385-A4C0-7CCAC956BABD}"/>
              </a:ext>
            </a:extLst>
          </p:cNvPr>
          <p:cNvSpPr>
            <a:spLocks noGrp="1"/>
          </p:cNvSpPr>
          <p:nvPr/>
        </p:nvSpPr>
        <p:spPr>
          <a:xfrm>
            <a:off x="6362700" y="3238500"/>
            <a:ext cx="2076450" cy="47625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 wrap="square" lIns="114300" tIns="95250" rIns="114300" bIns="95250" anchor="ctr">
            <a:normAutofit fontScale="9566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מנגנון נעילה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1C8AD6EC-E77D-40E2-90AC-FDD8A2F701D5}"/>
              </a:ext>
            </a:extLst>
          </p:cNvPr>
          <p:cNvSpPr>
            <a:spLocks noGrp="1"/>
          </p:cNvSpPr>
          <p:nvPr/>
        </p:nvSpPr>
        <p:spPr>
          <a:xfrm>
            <a:off x="6362700" y="3886200"/>
            <a:ext cx="20764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28BYJ-48</a:t>
            </a: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ULN2003</a:t>
            </a:r>
          </a:p>
          <a:p>
            <a:pPr algn="ctr" rtl="0">
              <a:lnSpc>
                <a:spcPct val="112000"/>
              </a:lnSpc>
              <a:buNone/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פתיחה ונעילה</a:t>
            </a:r>
          </a:p>
        </p:txBody>
      </p:sp>
      <p:pic>
        <p:nvPicPr>
          <p:cNvPr id="33" name="תמונה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86850" y="1462586"/>
            <a:ext cx="2076450" cy="1513478"/>
          </a:xfrm>
          <a:prstGeom prst="rect">
            <a:avLst/>
          </a:prstGeom>
        </p:spPr>
      </p:pic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76CF7B53-724C-4D7B-8446-C74AF5FC3A70}"/>
              </a:ext>
            </a:extLst>
          </p:cNvPr>
          <p:cNvSpPr>
            <a:spLocks noGrp="1"/>
          </p:cNvSpPr>
          <p:nvPr/>
        </p:nvSpPr>
        <p:spPr>
          <a:xfrm>
            <a:off x="9086850" y="3238500"/>
            <a:ext cx="2076450" cy="47625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9566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גיבוי וחיווי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DF7F64F-D684-4A55-8900-76C50FC23055}"/>
              </a:ext>
            </a:extLst>
          </p:cNvPr>
          <p:cNvSpPr>
            <a:spLocks noGrp="1"/>
          </p:cNvSpPr>
          <p:nvPr/>
        </p:nvSpPr>
        <p:spPr>
          <a:xfrm>
            <a:off x="9086850" y="3886200"/>
            <a:ext cx="20764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לוח מקשים</a:t>
            </a:r>
          </a:p>
          <a:p>
            <a:pPr algn="ctr">
              <a:lnSpc>
                <a:spcPct val="112000"/>
              </a:lnSpc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ממסר </a:t>
            </a:r>
          </a:p>
          <a:p>
            <a:pPr algn="ctr">
              <a:lnSpc>
                <a:spcPct val="112000"/>
              </a:lnSpc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נורות  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LED</a:t>
            </a:r>
            <a:endParaRPr lang="he-IL" altLang="en-US" sz="12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12000"/>
              </a:lnSpc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זמזם</a:t>
            </a:r>
          </a:p>
          <a:p>
            <a:pPr algn="ctr">
              <a:lnSpc>
                <a:spcPct val="112000"/>
              </a:lnSpc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endParaRPr lang="he-IL" altLang="en-US" sz="12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תמונה 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780155" y="4724400"/>
            <a:ext cx="1236309" cy="876300"/>
          </a:xfrm>
          <a:prstGeom prst="rect">
            <a:avLst/>
          </a:prstGeom>
        </p:spPr>
      </p:pic>
      <p:pic>
        <p:nvPicPr>
          <p:cNvPr id="37" name="תמונה 3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873893" y="4743450"/>
            <a:ext cx="876300" cy="876300"/>
          </a:xfrm>
          <a:prstGeom prst="rect">
            <a:avLst/>
          </a:prstGeom>
        </p:spPr>
      </p:pic>
      <p:sp>
        <p:nvSpPr>
          <p:cNvPr id="18" name="מלבן 17">
            <a:extLst>
              <a:ext uri="{FF2B5EF4-FFF2-40B4-BE49-F238E27FC236}">
                <a16:creationId xmlns:a16="http://schemas.microsoft.com/office/drawing/2014/main" id="{56AE5766-CB64-451E-99E3-C4ADB6E80E2E}"/>
              </a:ext>
            </a:extLst>
          </p:cNvPr>
          <p:cNvSpPr>
            <a:spLocks noGrp="1"/>
          </p:cNvSpPr>
          <p:nvPr/>
        </p:nvSpPr>
        <p:spPr>
          <a:xfrm>
            <a:off x="1828800" y="6076950"/>
            <a:ext cx="853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הרכיבים נבחרו כדי לאפשר פעולה לפי אירועים: זיהוי, החלטה, הפעלה, חיווי ותיעוד.</a:t>
            </a:r>
            <a:endParaRPr lang="he-IL" altLang="en-US" sz="1575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ADF36816-9DF7-49BC-A84A-906EF22DC34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2D460FF0-4475-48BE-9E64-590D04F7E45F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43410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CFD8608E-697A-43F2-9D5E-D3715B95C246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תרשים כללי של החיבורים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0CF1CFC-D7A8-4D59-9DEF-C680A3437D3D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10235" y="1036322"/>
            <a:ext cx="9152965" cy="5176668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A7C69C61-4F22-4E6B-865E-59FA4F0E0CB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A646543-A266-47FF-8DB6-D13285864861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46416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AC023293-0D2E-4069-8B9C-326FECF950CF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תרשים זרימה של פעולת התוכנה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0C896A6-AF0D-4CE7-907A-8652E711B327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E2A16C00-EFE6-4382-BC29-F085BABCD89F}"/>
              </a:ext>
            </a:extLst>
          </p:cNvPr>
          <p:cNvSpPr>
            <a:spLocks noGrp="1"/>
          </p:cNvSpPr>
          <p:nvPr/>
        </p:nvSpPr>
        <p:spPr>
          <a:xfrm>
            <a:off x="4819650" y="1238250"/>
            <a:ext cx="2571750" cy="64770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85940"/>
          </a:bodyPr>
          <a:lstStyle/>
          <a:p>
            <a:pPr algn="ctr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אתחול המערכת: טעינת </a:t>
            </a:r>
            <a:r>
              <a:rPr lang="en-US" dirty="0"/>
              <a:t>Overlay </a:t>
            </a:r>
            <a:r>
              <a:rPr lang="he-IL" dirty="0"/>
              <a:t>הגדרת </a:t>
            </a:r>
            <a:r>
              <a:rPr lang="en-US" dirty="0"/>
              <a:t> GPIO</a:t>
            </a:r>
            <a:r>
              <a:rPr lang="he-IL" dirty="0"/>
              <a:t>ומודלי הזיהוי.</a:t>
            </a:r>
            <a:endParaRPr lang="he-IL" altLang="en-US"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82DF3E58-3708-48FE-AC21-DE86F885B5A2}"/>
              </a:ext>
            </a:extLst>
          </p:cNvPr>
          <p:cNvSpPr>
            <a:spLocks noGrp="1"/>
          </p:cNvSpPr>
          <p:nvPr/>
        </p:nvSpPr>
        <p:spPr>
          <a:xfrm>
            <a:off x="5105400" y="230505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111827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המתנה לאירוע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6EA8A79E-55D2-4A11-971C-C403C11B1611}"/>
              </a:ext>
            </a:extLst>
          </p:cNvPr>
          <p:cNvSpPr>
            <a:spLocks noGrp="1"/>
          </p:cNvSpPr>
          <p:nvPr/>
        </p:nvSpPr>
        <p:spPr>
          <a:xfrm>
            <a:off x="8058149" y="2251711"/>
            <a:ext cx="2095501" cy="58674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זיהוי תנועה באמצעות </a:t>
            </a:r>
            <a:r>
              <a:rPr lang="en-US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PIR</a:t>
            </a:r>
            <a:endParaRPr lang="he-IL" altLang="en-US"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0A6AE808-4BA3-4F1E-B8D8-404D32B3B882}"/>
              </a:ext>
            </a:extLst>
          </p:cNvPr>
          <p:cNvSpPr>
            <a:spLocks noGrp="1"/>
          </p:cNvSpPr>
          <p:nvPr/>
        </p:nvSpPr>
        <p:spPr>
          <a:xfrm>
            <a:off x="2200275" y="2331719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לוח מקשים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C5D58D22-817B-4627-B864-0B83A34A5A68}"/>
              </a:ext>
            </a:extLst>
          </p:cNvPr>
          <p:cNvSpPr>
            <a:spLocks noGrp="1"/>
          </p:cNvSpPr>
          <p:nvPr/>
        </p:nvSpPr>
        <p:spPr>
          <a:xfrm>
            <a:off x="8020050" y="3381375"/>
            <a:ext cx="18859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בדיקת התאורה והפעלת הממסר לפי הצורך.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B2680FDF-FE6B-4BD8-8A0E-11A99C20F8B5}"/>
              </a:ext>
            </a:extLst>
          </p:cNvPr>
          <p:cNvSpPr>
            <a:spLocks noGrp="1"/>
          </p:cNvSpPr>
          <p:nvPr/>
        </p:nvSpPr>
        <p:spPr>
          <a:xfrm>
            <a:off x="7981950" y="4648200"/>
            <a:ext cx="19621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7314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זיהוי פנים וצילום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Haar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Cascade + LBPH</a:t>
            </a:r>
          </a:p>
        </p:txBody>
      </p:sp>
      <p:sp>
        <p:nvSpPr>
          <p:cNvPr id="10" name="יהלום 9">
            <a:extLst>
              <a:ext uri="{FF2B5EF4-FFF2-40B4-BE49-F238E27FC236}">
                <a16:creationId xmlns:a16="http://schemas.microsoft.com/office/drawing/2014/main" id="{B1E212DC-7043-4517-B672-E42E3F9A23D8}"/>
              </a:ext>
            </a:extLst>
          </p:cNvPr>
          <p:cNvSpPr>
            <a:spLocks noGrp="1"/>
          </p:cNvSpPr>
          <p:nvPr/>
        </p:nvSpPr>
        <p:spPr>
          <a:xfrm>
            <a:off x="2286000" y="3476624"/>
            <a:ext cx="1866900" cy="836295"/>
          </a:xfrm>
          <a:prstGeom prst="diamond">
            <a:avLst/>
          </a:prstGeom>
          <a:solidFill>
            <a:srgbClr val="FFFFFF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93047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0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קוד תקין? </a:t>
            </a:r>
          </a:p>
        </p:txBody>
      </p:sp>
      <p:sp>
        <p:nvSpPr>
          <p:cNvPr id="11" name="יהלום 10">
            <a:extLst>
              <a:ext uri="{FF2B5EF4-FFF2-40B4-BE49-F238E27FC236}">
                <a16:creationId xmlns:a16="http://schemas.microsoft.com/office/drawing/2014/main" id="{FBEA9655-9DD9-4ECA-A5C2-3DB6C0CD6163}"/>
              </a:ext>
            </a:extLst>
          </p:cNvPr>
          <p:cNvSpPr>
            <a:spLocks noGrp="1"/>
          </p:cNvSpPr>
          <p:nvPr/>
        </p:nvSpPr>
        <p:spPr>
          <a:xfrm>
            <a:off x="4709160" y="4457700"/>
            <a:ext cx="2225040" cy="990600"/>
          </a:xfrm>
          <a:prstGeom prst="diamond">
            <a:avLst/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85114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משתמש מורשה?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31F7F58E-6785-4E95-B41F-E8E4FDDD8EE5}"/>
              </a:ext>
            </a:extLst>
          </p:cNvPr>
          <p:cNvSpPr>
            <a:spLocks noGrp="1"/>
          </p:cNvSpPr>
          <p:nvPr/>
        </p:nvSpPr>
        <p:spPr>
          <a:xfrm>
            <a:off x="4286250" y="5848350"/>
            <a:ext cx="2952750" cy="552450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8109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פתיחת המנעול</a:t>
            </a:r>
          </a:p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צעד מנוע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CAE9BF8E-2245-4B9F-B224-0A32C8627D42}"/>
              </a:ext>
            </a:extLst>
          </p:cNvPr>
          <p:cNvSpPr>
            <a:spLocks noGrp="1"/>
          </p:cNvSpPr>
          <p:nvPr/>
        </p:nvSpPr>
        <p:spPr>
          <a:xfrm>
            <a:off x="1299210" y="4943474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  <p:txBody>
          <a:bodyPr wrap="square" lIns="114300" tIns="95250" rIns="114300" bIns="95250" anchor="ctr">
            <a:normAutofit fontScale="92398"/>
          </a:bodyPr>
          <a:lstStyle/>
          <a:p>
            <a:pPr algn="ctr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ספירת כשלים והפעלת </a:t>
            </a:r>
            <a:r>
              <a:rPr lang="en-US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Telegram </a:t>
            </a: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או </a:t>
            </a:r>
            <a:r>
              <a:rPr lang="en-US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Lockout </a:t>
            </a: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בהתאם לסף שנקבע.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C99E8469-3759-41A4-ABBA-E123E3791F67}"/>
              </a:ext>
            </a:extLst>
          </p:cNvPr>
          <p:cNvSpPr>
            <a:spLocks noGrp="1"/>
          </p:cNvSpPr>
          <p:nvPr/>
        </p:nvSpPr>
        <p:spPr>
          <a:xfrm>
            <a:off x="8020050" y="5829300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 wrap="square" lIns="114300" tIns="95250" rIns="114300" bIns="95250" anchor="ctr">
            <a:normAutofit fontScale="88443" lnSpcReduction="20000"/>
          </a:bodyPr>
          <a:lstStyle/>
          <a:p>
            <a:pPr algn="ctr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מעקב באמצעות חיישן </a:t>
            </a:r>
            <a:r>
              <a:rPr lang="en-US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MC-38 </a:t>
            </a:r>
            <a:r>
              <a:rPr lang="he-IL" alt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ונעילה רק לאחר סגירת הדלת.</a:t>
            </a:r>
          </a:p>
        </p:txBody>
      </p:sp>
      <p:sp>
        <p:nvSpPr>
          <p:cNvPr id="15" name="חץ: למטה 14">
            <a:extLst>
              <a:ext uri="{FF2B5EF4-FFF2-40B4-BE49-F238E27FC236}">
                <a16:creationId xmlns:a16="http://schemas.microsoft.com/office/drawing/2014/main" id="{7CD6DFD5-49FB-45D4-88D4-65A247584D56}"/>
              </a:ext>
            </a:extLst>
          </p:cNvPr>
          <p:cNvSpPr>
            <a:spLocks noGrp="1"/>
          </p:cNvSpPr>
          <p:nvPr/>
        </p:nvSpPr>
        <p:spPr>
          <a:xfrm>
            <a:off x="5962650" y="1952625"/>
            <a:ext cx="266700" cy="285750"/>
          </a:xfrm>
          <a:prstGeom prst="down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6" name="חץ: ימינה 15">
            <a:extLst>
              <a:ext uri="{FF2B5EF4-FFF2-40B4-BE49-F238E27FC236}">
                <a16:creationId xmlns:a16="http://schemas.microsoft.com/office/drawing/2014/main" id="{B3BC0322-CE41-44A1-ADF9-924B5CA4DDBB}"/>
              </a:ext>
            </a:extLst>
          </p:cNvPr>
          <p:cNvSpPr>
            <a:spLocks noGrp="1"/>
          </p:cNvSpPr>
          <p:nvPr/>
        </p:nvSpPr>
        <p:spPr>
          <a:xfrm>
            <a:off x="7239000" y="2457450"/>
            <a:ext cx="590550" cy="190500"/>
          </a:xfrm>
          <a:prstGeom prst="right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17" name="חץ: שמאלה 16">
            <a:extLst>
              <a:ext uri="{FF2B5EF4-FFF2-40B4-BE49-F238E27FC236}">
                <a16:creationId xmlns:a16="http://schemas.microsoft.com/office/drawing/2014/main" id="{A00D72EF-A0BA-4D58-8658-136B728C563F}"/>
              </a:ext>
            </a:extLst>
          </p:cNvPr>
          <p:cNvSpPr>
            <a:spLocks noGrp="1"/>
          </p:cNvSpPr>
          <p:nvPr/>
        </p:nvSpPr>
        <p:spPr>
          <a:xfrm>
            <a:off x="4476750" y="2457450"/>
            <a:ext cx="495300" cy="190500"/>
          </a:xfrm>
          <a:prstGeom prst="leftArrow">
            <a:avLst/>
          </a:prstGeom>
          <a:solidFill>
            <a:srgbClr val="B45309"/>
          </a:solidFill>
          <a:ln w="4763">
            <a:solidFill>
              <a:srgbClr val="B45309"/>
            </a:solidFill>
            <a:prstDash val="solid"/>
          </a:ln>
        </p:spPr>
      </p:sp>
      <p:sp>
        <p:nvSpPr>
          <p:cNvPr id="18" name="חץ: למטה 17">
            <a:extLst>
              <a:ext uri="{FF2B5EF4-FFF2-40B4-BE49-F238E27FC236}">
                <a16:creationId xmlns:a16="http://schemas.microsoft.com/office/drawing/2014/main" id="{0488C2C3-BE69-4A4D-A017-619E96F8A32A}"/>
              </a:ext>
            </a:extLst>
          </p:cNvPr>
          <p:cNvSpPr>
            <a:spLocks noGrp="1"/>
          </p:cNvSpPr>
          <p:nvPr/>
        </p:nvSpPr>
        <p:spPr>
          <a:xfrm>
            <a:off x="8820150" y="2981325"/>
            <a:ext cx="247650" cy="304800"/>
          </a:xfrm>
          <a:prstGeom prst="down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19" name="חץ: למטה 18">
            <a:extLst>
              <a:ext uri="{FF2B5EF4-FFF2-40B4-BE49-F238E27FC236}">
                <a16:creationId xmlns:a16="http://schemas.microsoft.com/office/drawing/2014/main" id="{0164E59C-CF2F-429B-9126-A147FA24CDD7}"/>
              </a:ext>
            </a:extLst>
          </p:cNvPr>
          <p:cNvSpPr>
            <a:spLocks noGrp="1"/>
          </p:cNvSpPr>
          <p:nvPr/>
        </p:nvSpPr>
        <p:spPr>
          <a:xfrm>
            <a:off x="8820150" y="4181475"/>
            <a:ext cx="247650" cy="323850"/>
          </a:xfrm>
          <a:prstGeom prst="down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20" name="חץ: שמאלה 19">
            <a:extLst>
              <a:ext uri="{FF2B5EF4-FFF2-40B4-BE49-F238E27FC236}">
                <a16:creationId xmlns:a16="http://schemas.microsoft.com/office/drawing/2014/main" id="{DB35A0BD-0136-4AA5-9DF0-2EAEE567E3CD}"/>
              </a:ext>
            </a:extLst>
          </p:cNvPr>
          <p:cNvSpPr>
            <a:spLocks noGrp="1"/>
          </p:cNvSpPr>
          <p:nvPr/>
        </p:nvSpPr>
        <p:spPr>
          <a:xfrm>
            <a:off x="7086600" y="4953000"/>
            <a:ext cx="742950" cy="2095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21" name="חץ: למטה 20">
            <a:extLst>
              <a:ext uri="{FF2B5EF4-FFF2-40B4-BE49-F238E27FC236}">
                <a16:creationId xmlns:a16="http://schemas.microsoft.com/office/drawing/2014/main" id="{D8DA19E6-C144-425A-8AF1-F82656B90B7F}"/>
              </a:ext>
            </a:extLst>
          </p:cNvPr>
          <p:cNvSpPr>
            <a:spLocks noGrp="1"/>
          </p:cNvSpPr>
          <p:nvPr/>
        </p:nvSpPr>
        <p:spPr>
          <a:xfrm>
            <a:off x="3095625" y="2933700"/>
            <a:ext cx="247650" cy="400050"/>
          </a:xfrm>
          <a:prstGeom prst="downArrow">
            <a:avLst/>
          </a:prstGeom>
          <a:solidFill>
            <a:srgbClr val="B45309"/>
          </a:solidFill>
          <a:ln w="4763">
            <a:solidFill>
              <a:srgbClr val="B45309"/>
            </a:solidFill>
            <a:prstDash val="solid"/>
          </a:ln>
        </p:spPr>
      </p:sp>
      <p:sp>
        <p:nvSpPr>
          <p:cNvPr id="22" name="חץ: למטה 21">
            <a:extLst>
              <a:ext uri="{FF2B5EF4-FFF2-40B4-BE49-F238E27FC236}">
                <a16:creationId xmlns:a16="http://schemas.microsoft.com/office/drawing/2014/main" id="{D536855A-093A-43E2-B81B-AE4425E97A3A}"/>
              </a:ext>
            </a:extLst>
          </p:cNvPr>
          <p:cNvSpPr>
            <a:spLocks noGrp="1"/>
          </p:cNvSpPr>
          <p:nvPr/>
        </p:nvSpPr>
        <p:spPr>
          <a:xfrm>
            <a:off x="5688330" y="5562600"/>
            <a:ext cx="266700" cy="247650"/>
          </a:xfrm>
          <a:prstGeom prst="down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24" name="חץ: שמאלה 23">
            <a:extLst>
              <a:ext uri="{FF2B5EF4-FFF2-40B4-BE49-F238E27FC236}">
                <a16:creationId xmlns:a16="http://schemas.microsoft.com/office/drawing/2014/main" id="{FF616256-D3C7-4647-9189-C57B3D883D4B}"/>
              </a:ext>
            </a:extLst>
          </p:cNvPr>
          <p:cNvSpPr>
            <a:spLocks noGrp="1"/>
          </p:cNvSpPr>
          <p:nvPr/>
        </p:nvSpPr>
        <p:spPr>
          <a:xfrm>
            <a:off x="3832860" y="5067300"/>
            <a:ext cx="876300" cy="209550"/>
          </a:xfrm>
          <a:prstGeom prst="leftArrow">
            <a:avLst/>
          </a:prstGeom>
          <a:solidFill>
            <a:srgbClr val="B91C1C"/>
          </a:solidFill>
          <a:ln w="4763">
            <a:solidFill>
              <a:srgbClr val="B91C1C"/>
            </a:solidFill>
            <a:prstDash val="solid"/>
          </a:ln>
        </p:spPr>
      </p:sp>
      <p:sp>
        <p:nvSpPr>
          <p:cNvPr id="25" name="חץ: שמאלה 24">
            <a:extLst>
              <a:ext uri="{FF2B5EF4-FFF2-40B4-BE49-F238E27FC236}">
                <a16:creationId xmlns:a16="http://schemas.microsoft.com/office/drawing/2014/main" id="{DE1B69C1-A5B7-4850-A08D-B61FD68524E0}"/>
              </a:ext>
            </a:extLst>
          </p:cNvPr>
          <p:cNvSpPr>
            <a:spLocks noGrp="1"/>
          </p:cNvSpPr>
          <p:nvPr/>
        </p:nvSpPr>
        <p:spPr>
          <a:xfrm rot="16200000">
            <a:off x="3007994" y="4501514"/>
            <a:ext cx="481965" cy="188598"/>
          </a:xfrm>
          <a:prstGeom prst="leftArrow">
            <a:avLst/>
          </a:prstGeom>
          <a:solidFill>
            <a:srgbClr val="B91C1C"/>
          </a:solidFill>
          <a:ln w="4763">
            <a:solidFill>
              <a:srgbClr val="B91C1C"/>
            </a:solidFill>
            <a:prstDash val="solid"/>
          </a:ln>
        </p:spPr>
      </p:sp>
      <p:sp>
        <p:nvSpPr>
          <p:cNvPr id="26" name="חץ: ימינה 25">
            <a:extLst>
              <a:ext uri="{FF2B5EF4-FFF2-40B4-BE49-F238E27FC236}">
                <a16:creationId xmlns:a16="http://schemas.microsoft.com/office/drawing/2014/main" id="{B8B44065-07BC-422C-98B3-D19378905B3E}"/>
              </a:ext>
            </a:extLst>
          </p:cNvPr>
          <p:cNvSpPr>
            <a:spLocks noGrp="1"/>
          </p:cNvSpPr>
          <p:nvPr/>
        </p:nvSpPr>
        <p:spPr>
          <a:xfrm>
            <a:off x="7324724" y="6038850"/>
            <a:ext cx="600075" cy="228600"/>
          </a:xfrm>
          <a:prstGeom prst="rightArrow">
            <a:avLst/>
          </a:prstGeom>
          <a:solidFill>
            <a:srgbClr val="6D28D9"/>
          </a:solidFill>
          <a:ln w="4763">
            <a:solidFill>
              <a:srgbClr val="6D28D9"/>
            </a:solidFill>
            <a:prstDash val="solid"/>
          </a:ln>
        </p:spPr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32DA18D5-7B38-40DC-8342-0B8B287DF1CE}"/>
              </a:ext>
            </a:extLst>
          </p:cNvPr>
          <p:cNvSpPr>
            <a:spLocks noGrp="1"/>
          </p:cNvSpPr>
          <p:nvPr/>
        </p:nvSpPr>
        <p:spPr>
          <a:xfrm>
            <a:off x="7010400" y="27813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0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0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להמתנה חזרה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14C0B96F-CD4F-4006-A226-FB47B7B7210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737EF50A-EC36-4B5F-BFA1-84571D11C7EB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  <p:cxnSp>
        <p:nvCxnSpPr>
          <p:cNvPr id="38" name="מחבר: מרפקי 37">
            <a:extLst>
              <a:ext uri="{FF2B5EF4-FFF2-40B4-BE49-F238E27FC236}">
                <a16:creationId xmlns:a16="http://schemas.microsoft.com/office/drawing/2014/main" id="{24578C65-E00E-456C-BD27-96160D110601}"/>
              </a:ext>
            </a:extLst>
          </p:cNvPr>
          <p:cNvCxnSpPr>
            <a:cxnSpLocks/>
            <a:stCxn id="7" idx="1"/>
            <a:endCxn id="12" idx="1"/>
          </p:cNvCxnSpPr>
          <p:nvPr/>
        </p:nvCxnSpPr>
        <p:spPr>
          <a:xfrm rot="10800000" flipH="1" flipV="1">
            <a:off x="2200274" y="2588893"/>
            <a:ext cx="2085975" cy="3535681"/>
          </a:xfrm>
          <a:prstGeom prst="bentConnector3">
            <a:avLst>
              <a:gd name="adj1" fmla="val -61735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07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3D9F0B2-F284-43B4-B832-B51CD9F1B911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שלבי זיהוי המשתמש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CB884517-3C70-43F9-AD69-B951C5B60087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137E442D-88A6-4B44-AFD9-ECB7A5C4344C}"/>
              </a:ext>
            </a:extLst>
          </p:cNvPr>
          <p:cNvSpPr>
            <a:spLocks noGrp="1"/>
          </p:cNvSpPr>
          <p:nvPr/>
        </p:nvSpPr>
        <p:spPr>
          <a:xfrm>
            <a:off x="9048750" y="1905000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תמונה מהמצלמה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76B4EF4-A8B3-47B7-8D12-A69CAD839B4D}"/>
              </a:ext>
            </a:extLst>
          </p:cNvPr>
          <p:cNvSpPr>
            <a:spLocks noGrp="1"/>
          </p:cNvSpPr>
          <p:nvPr/>
        </p:nvSpPr>
        <p:spPr>
          <a:xfrm>
            <a:off x="8877300" y="2647950"/>
            <a:ext cx="2152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צילום אזור הכניסה לאחר זיהוי אירוע תנועה.</a:t>
            </a:r>
            <a:endParaRPr lang="he-IL" alt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EB04248A-5C9D-488D-956E-0A7C5D14096E}"/>
              </a:ext>
            </a:extLst>
          </p:cNvPr>
          <p:cNvSpPr>
            <a:spLocks noGrp="1"/>
          </p:cNvSpPr>
          <p:nvPr/>
        </p:nvSpPr>
        <p:spPr>
          <a:xfrm>
            <a:off x="6619875" y="1905000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גילוי פנים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A6D0523-2F84-4D69-9996-A4878D008E07}"/>
              </a:ext>
            </a:extLst>
          </p:cNvPr>
          <p:cNvSpPr>
            <a:spLocks noGrp="1"/>
          </p:cNvSpPr>
          <p:nvPr/>
        </p:nvSpPr>
        <p:spPr>
          <a:xfrm>
            <a:off x="6448425" y="2647950"/>
            <a:ext cx="2152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איתור אזור הפנים בתמונה באמצעות </a:t>
            </a:r>
            <a:r>
              <a:rPr lang="en-US" dirty="0" err="1"/>
              <a:t>Haar</a:t>
            </a:r>
            <a:r>
              <a:rPr lang="en-US" dirty="0"/>
              <a:t> Cascade </a:t>
            </a:r>
            <a:endParaRPr lang="he-IL" alt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2149A07-E2BD-49F1-A9E4-8BD3068F4E26}"/>
              </a:ext>
            </a:extLst>
          </p:cNvPr>
          <p:cNvSpPr>
            <a:spLocks noGrp="1"/>
          </p:cNvSpPr>
          <p:nvPr/>
        </p:nvSpPr>
        <p:spPr>
          <a:xfrm>
            <a:off x="4191000" y="1905000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זיהוי פנים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BD9D5E5-76F1-41A8-8100-137F37770F38}"/>
              </a:ext>
            </a:extLst>
          </p:cNvPr>
          <p:cNvSpPr>
            <a:spLocks noGrp="1"/>
          </p:cNvSpPr>
          <p:nvPr/>
        </p:nvSpPr>
        <p:spPr>
          <a:xfrm>
            <a:off x="4019550" y="2647950"/>
            <a:ext cx="2152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השוואה מול מודל </a:t>
            </a:r>
            <a:r>
              <a:rPr lang="en-US" dirty="0"/>
              <a:t>LBPH </a:t>
            </a:r>
            <a:r>
              <a:rPr lang="he-IL" dirty="0"/>
              <a:t>שאומן מראש.</a:t>
            </a:r>
            <a:endParaRPr lang="he-IL" alt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DA3CC066-A0B0-4650-8CED-96FAA2944932}"/>
              </a:ext>
            </a:extLst>
          </p:cNvPr>
          <p:cNvSpPr>
            <a:spLocks noGrp="1"/>
          </p:cNvSpPr>
          <p:nvPr/>
        </p:nvSpPr>
        <p:spPr>
          <a:xfrm>
            <a:off x="1762125" y="1905000"/>
            <a:ext cx="1809750" cy="53340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החלטת גישה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E1D4DE0-6263-41F0-BCC9-CC117B3FAD27}"/>
              </a:ext>
            </a:extLst>
          </p:cNvPr>
          <p:cNvSpPr>
            <a:spLocks noGrp="1"/>
          </p:cNvSpPr>
          <p:nvPr/>
        </p:nvSpPr>
        <p:spPr>
          <a:xfrm>
            <a:off x="1590675" y="2647950"/>
            <a:ext cx="2152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12000"/>
              </a:lnSpc>
              <a:buNone/>
              <a:defRPr lang="he-IL" altLang="en-US"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בדיקת מזהה המשתמש וסף ה-</a:t>
            </a:r>
            <a:r>
              <a:rPr lang="en-US" altLang="en-US" sz="1350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Confidence </a:t>
            </a:r>
            <a:endParaRPr lang="en-US" sz="13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חץ: שמאלה 11">
            <a:extLst>
              <a:ext uri="{FF2B5EF4-FFF2-40B4-BE49-F238E27FC236}">
                <a16:creationId xmlns:a16="http://schemas.microsoft.com/office/drawing/2014/main" id="{23AB495D-7E26-434A-AB18-FC653683F924}"/>
              </a:ext>
            </a:extLst>
          </p:cNvPr>
          <p:cNvSpPr>
            <a:spLocks noGrp="1"/>
          </p:cNvSpPr>
          <p:nvPr/>
        </p:nvSpPr>
        <p:spPr>
          <a:xfrm>
            <a:off x="8524875" y="2590800"/>
            <a:ext cx="4381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3" name="חץ: שמאלה 12">
            <a:extLst>
              <a:ext uri="{FF2B5EF4-FFF2-40B4-BE49-F238E27FC236}">
                <a16:creationId xmlns:a16="http://schemas.microsoft.com/office/drawing/2014/main" id="{B6B6E479-480E-4C3E-8347-87E2C7E446CD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4381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4" name="חץ: שמאלה 13">
            <a:extLst>
              <a:ext uri="{FF2B5EF4-FFF2-40B4-BE49-F238E27FC236}">
                <a16:creationId xmlns:a16="http://schemas.microsoft.com/office/drawing/2014/main" id="{635DD3F8-B561-4717-A805-91497BE4C6CC}"/>
              </a:ext>
            </a:extLst>
          </p:cNvPr>
          <p:cNvSpPr>
            <a:spLocks noGrp="1"/>
          </p:cNvSpPr>
          <p:nvPr/>
        </p:nvSpPr>
        <p:spPr>
          <a:xfrm>
            <a:off x="3667125" y="2590800"/>
            <a:ext cx="4381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pic>
        <p:nvPicPr>
          <p:cNvPr id="35" name="תמונה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4850" y="4121917"/>
            <a:ext cx="2000250" cy="823967"/>
          </a:xfrm>
          <a:prstGeom prst="rect">
            <a:avLst/>
          </a:prstGeom>
        </p:spPr>
      </p:pic>
      <p:pic>
        <p:nvPicPr>
          <p:cNvPr id="36" name="תמונה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72050" y="4059238"/>
            <a:ext cx="2190750" cy="949325"/>
          </a:xfrm>
          <a:prstGeom prst="rect">
            <a:avLst/>
          </a:prstGeom>
        </p:spPr>
      </p:pic>
      <p:pic>
        <p:nvPicPr>
          <p:cNvPr id="37" name="תמונה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62100" y="4086905"/>
            <a:ext cx="2381250" cy="884464"/>
          </a:xfrm>
          <a:prstGeom prst="rect">
            <a:avLst/>
          </a:prstGeom>
        </p:spPr>
      </p:pic>
      <p:sp>
        <p:nvSpPr>
          <p:cNvPr id="18" name="מלבן 17">
            <a:extLst>
              <a:ext uri="{FF2B5EF4-FFF2-40B4-BE49-F238E27FC236}">
                <a16:creationId xmlns:a16="http://schemas.microsoft.com/office/drawing/2014/main" id="{C7CE3DA6-B4F5-476C-9F1C-740E7B9B705A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7112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08000"/>
              </a:lnSpc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ההחלטה אינה מתקבלת מתמונה גולמית בלבד. המערכת מפרידה בין גילוי פנים לבין זיהוי המשתמש המורשה.</a:t>
            </a:r>
          </a:p>
          <a:p>
            <a:pPr algn="ctr" rtl="0">
              <a:lnSpc>
                <a:spcPct val="108000"/>
              </a:lnSpc>
              <a:buNone/>
              <a:defRPr lang="he-IL" altLang="en-US"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lang="he-IL" altLang="en-US" sz="17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B0054D03-EC37-48A6-ABA9-06F3C5262B3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A8A86F43-96FA-4177-9171-F09EA67E6B3F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65786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B3D43344-D1A8-41E1-9DDD-187762C8FA5A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בקר מנוע הצעד ממומש ב-</a:t>
            </a:r>
            <a:r>
              <a:rPr lang="en-US" dirty="0"/>
              <a:t>FPGA </a:t>
            </a:r>
            <a:endParaRPr lang="he-IL" altLang="en-US" sz="25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6DEFE6F-34A3-4515-B0C0-6C91808FFB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A938085F-CFF9-46B3-AB27-4CE971FDA1E4}"/>
              </a:ext>
            </a:extLst>
          </p:cNvPr>
          <p:cNvSpPr>
            <a:spLocks noGrp="1"/>
          </p:cNvSpPr>
          <p:nvPr/>
        </p:nvSpPr>
        <p:spPr>
          <a:xfrm>
            <a:off x="8858250" y="146685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שעון המערכת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125 MHz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882F94E3-292D-4E29-AA6E-0F3CBCE6E19B}"/>
              </a:ext>
            </a:extLst>
          </p:cNvPr>
          <p:cNvSpPr>
            <a:spLocks noGrp="1"/>
          </p:cNvSpPr>
          <p:nvPr/>
        </p:nvSpPr>
        <p:spPr>
          <a:xfrm>
            <a:off x="6724650" y="146685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מחלק תדר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500 Hz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B77E9A6B-BD66-49A2-9289-C90C84C5886F}"/>
              </a:ext>
            </a:extLst>
          </p:cNvPr>
          <p:cNvSpPr>
            <a:spLocks noGrp="1"/>
          </p:cNvSpPr>
          <p:nvPr/>
        </p:nvSpPr>
        <p:spPr>
          <a:xfrm>
            <a:off x="4591050" y="127635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>
              <a:lnSpc>
                <a:spcPct val="105000"/>
              </a:lnSpc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200" dirty="0"/>
              <a:t> FSM </a:t>
            </a:r>
            <a:r>
              <a:rPr lang="he-IL" sz="1200" dirty="0"/>
              <a:t>לפתיחה</a:t>
            </a:r>
            <a:endParaRPr lang="he-IL" altLang="en-US"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D0932A55-97F3-41F2-8D8F-99472941E773}"/>
              </a:ext>
            </a:extLst>
          </p:cNvPr>
          <p:cNvSpPr>
            <a:spLocks noGrp="1"/>
          </p:cNvSpPr>
          <p:nvPr/>
        </p:nvSpPr>
        <p:spPr>
          <a:xfrm>
            <a:off x="4591050" y="2247900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 FSM </a:t>
            </a:r>
            <a:r>
              <a:rPr lang="he-IL" dirty="0"/>
              <a:t>לנעילה</a:t>
            </a:r>
            <a:endParaRPr lang="he-IL" altLang="en-US" sz="13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44A6EA47-3A2D-44D9-A3CB-872B718A47A1}"/>
              </a:ext>
            </a:extLst>
          </p:cNvPr>
          <p:cNvSpPr>
            <a:spLocks noGrp="1"/>
          </p:cNvSpPr>
          <p:nvPr/>
        </p:nvSpPr>
        <p:spPr>
          <a:xfrm>
            <a:off x="2514600" y="1752600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111827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stepper_phases</a:t>
            </a: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[3:0]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8BB19AF3-3824-438B-902C-30D31A58D85A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  <p:txBody>
          <a:bodyPr wrap="square" lIns="114300" tIns="95250" rIns="114300" bIns="95250" anchor="ctr">
            <a:normAutofit fontScale="99898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ULN2003</a:t>
            </a:r>
          </a:p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28</a:t>
            </a:r>
            <a:r>
              <a:rPr lang="en-US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BYJ-48</a:t>
            </a:r>
          </a:p>
        </p:txBody>
      </p:sp>
      <p:cxnSp>
        <p:nvCxnSpPr>
          <p:cNvPr id="32" name="מחבר חץ ישר 31"/>
          <p:cNvCxnSpPr>
            <a:stCxn id="4" idx="1"/>
            <a:endCxn id="5" idx="3"/>
          </p:cNvCxnSpPr>
          <p:nvPr/>
        </p:nvCxnSpPr>
        <p:spPr>
          <a:xfrm flipH="1">
            <a:off x="8439150" y="1800225"/>
            <a:ext cx="419100" cy="0"/>
          </a:xfrm>
          <a:prstGeom prst="straightConnector1">
            <a:avLst/>
          </a:prstGeom>
          <a:ln w="17145">
            <a:solidFill>
              <a:srgbClr val="2563EB"/>
            </a:solidFill>
            <a:prstDash val="solid"/>
            <a:headEnd type="arrow" w="sm" len="sm"/>
          </a:ln>
        </p:spPr>
      </p:cxnSp>
      <p:cxnSp>
        <p:nvCxnSpPr>
          <p:cNvPr id="33" name="מחבר חץ ישר 32"/>
          <p:cNvCxnSpPr>
            <a:stCxn id="5" idx="1"/>
            <a:endCxn id="6" idx="3"/>
          </p:cNvCxnSpPr>
          <p:nvPr/>
        </p:nvCxnSpPr>
        <p:spPr>
          <a:xfrm flipH="1" flipV="1">
            <a:off x="6305550" y="1609725"/>
            <a:ext cx="419100" cy="190500"/>
          </a:xfrm>
          <a:prstGeom prst="straightConnector1">
            <a:avLst/>
          </a:prstGeom>
          <a:ln w="17145">
            <a:solidFill>
              <a:srgbClr val="15803D"/>
            </a:solidFill>
            <a:prstDash val="solid"/>
            <a:headEnd type="arrow" w="sm" len="sm"/>
          </a:ln>
        </p:spPr>
      </p:cxnSp>
      <p:cxnSp>
        <p:nvCxnSpPr>
          <p:cNvPr id="34" name="מחבר חץ ישר 33"/>
          <p:cNvCxnSpPr>
            <a:stCxn id="5" idx="1"/>
            <a:endCxn id="7" idx="3"/>
          </p:cNvCxnSpPr>
          <p:nvPr/>
        </p:nvCxnSpPr>
        <p:spPr>
          <a:xfrm flipH="1">
            <a:off x="6305550" y="1800225"/>
            <a:ext cx="419100" cy="781050"/>
          </a:xfrm>
          <a:prstGeom prst="straightConnector1">
            <a:avLst/>
          </a:prstGeom>
          <a:ln w="17145">
            <a:solidFill>
              <a:srgbClr val="6D28D9"/>
            </a:solidFill>
            <a:prstDash val="solid"/>
            <a:headEnd type="arrow" w="sm" len="sm"/>
          </a:ln>
        </p:spPr>
      </p:cxnSp>
      <p:cxnSp>
        <p:nvCxnSpPr>
          <p:cNvPr id="35" name="מחבר חץ ישר 34"/>
          <p:cNvCxnSpPr>
            <a:stCxn id="6" idx="1"/>
            <a:endCxn id="8" idx="3"/>
          </p:cNvCxnSpPr>
          <p:nvPr/>
        </p:nvCxnSpPr>
        <p:spPr>
          <a:xfrm flipH="1">
            <a:off x="4133850" y="1609725"/>
            <a:ext cx="457200" cy="476250"/>
          </a:xfrm>
          <a:prstGeom prst="straightConnector1">
            <a:avLst/>
          </a:prstGeom>
          <a:ln w="17145">
            <a:solidFill>
              <a:srgbClr val="15803D"/>
            </a:solidFill>
            <a:prstDash val="solid"/>
            <a:headEnd type="arrow" w="sm" len="sm"/>
          </a:ln>
        </p:spPr>
      </p:cxnSp>
      <p:cxnSp>
        <p:nvCxnSpPr>
          <p:cNvPr id="36" name="מחבר חץ ישר 35"/>
          <p:cNvCxnSpPr>
            <a:stCxn id="7" idx="1"/>
            <a:endCxn id="8" idx="3"/>
          </p:cNvCxnSpPr>
          <p:nvPr/>
        </p:nvCxnSpPr>
        <p:spPr>
          <a:xfrm flipH="1" flipV="1">
            <a:off x="4133850" y="2085975"/>
            <a:ext cx="457200" cy="495300"/>
          </a:xfrm>
          <a:prstGeom prst="straightConnector1">
            <a:avLst/>
          </a:prstGeom>
          <a:ln w="17145">
            <a:solidFill>
              <a:srgbClr val="6D28D9"/>
            </a:solidFill>
            <a:prstDash val="solid"/>
            <a:headEnd type="arrow" w="sm" len="sm"/>
          </a:ln>
        </p:spPr>
      </p:cxnSp>
      <p:cxnSp>
        <p:nvCxnSpPr>
          <p:cNvPr id="37" name="מחבר חץ ישר 36"/>
          <p:cNvCxnSpPr>
            <a:stCxn id="8" idx="1"/>
            <a:endCxn id="9" idx="3"/>
          </p:cNvCxnSpPr>
          <p:nvPr/>
        </p:nvCxnSpPr>
        <p:spPr>
          <a:xfrm flipH="1">
            <a:off x="2152650" y="2085975"/>
            <a:ext cx="361950" cy="0"/>
          </a:xfrm>
          <a:prstGeom prst="straightConnector1">
            <a:avLst/>
          </a:prstGeom>
          <a:ln w="17145">
            <a:solidFill>
              <a:srgbClr val="B91C1C"/>
            </a:solidFill>
            <a:prstDash val="solid"/>
            <a:headEnd type="arrow" w="sm" len="sm"/>
          </a:ln>
        </p:spPr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0979F6A0-D6ED-4163-8C2E-0E0429563D08}"/>
              </a:ext>
            </a:extLst>
          </p:cNvPr>
          <p:cNvSpPr>
            <a:spLocks noGrp="1"/>
          </p:cNvSpPr>
          <p:nvPr/>
        </p:nvSpPr>
        <p:spPr>
          <a:xfrm>
            <a:off x="7315200" y="3286125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רצפי בדיקה בסימולציה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E5DAF88B-BF0D-49EB-8363-1EF466FF5425}"/>
              </a:ext>
            </a:extLst>
          </p:cNvPr>
          <p:cNvSpPr>
            <a:spLocks noGrp="1"/>
          </p:cNvSpPr>
          <p:nvPr/>
        </p:nvSpPr>
        <p:spPr>
          <a:xfrm>
            <a:off x="7143750" y="377190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עם כיוון השעון</a:t>
            </a: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1000, 0100, 0010, 0001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A4CC8B59-296D-4A72-BB0A-6B6855BAD355}"/>
              </a:ext>
            </a:extLst>
          </p:cNvPr>
          <p:cNvSpPr>
            <a:spLocks noGrp="1"/>
          </p:cNvSpPr>
          <p:nvPr/>
        </p:nvSpPr>
        <p:spPr>
          <a:xfrm>
            <a:off x="7143750" y="48196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6D28D9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נגד כיוון השעון</a:t>
            </a: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0001, 0010, 0100, 1000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446544B4-5695-4E6C-9CA6-582F9D46E31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0047B9FF-FDC0-4C3A-B32F-9B786B501CFD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51402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A852FD5-A948-4B18-BA41-4918BDCE1CA6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לוח המקשים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FBFE4A1-E41E-402C-8238-73E48B783782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pic>
        <p:nvPicPr>
          <p:cNvPr id="31" name="תמונה 30"/>
          <p:cNvPicPr>
            <a:picLocks noChangeAspect="1"/>
          </p:cNvPicPr>
          <p:nvPr/>
        </p:nvPicPr>
        <p:blipFill>
          <a:blip r:embed="rId3"/>
          <a:srcRect t="1707" b="1707"/>
          <a:stretch>
            <a:fillRect/>
          </a:stretch>
        </p:blipFill>
        <p:spPr>
          <a:xfrm>
            <a:off x="8286750" y="1333500"/>
            <a:ext cx="2381250" cy="1676400"/>
          </a:xfrm>
          <a:prstGeom prst="rect">
            <a:avLst/>
          </a:prstGeom>
        </p:spPr>
      </p:pic>
      <p:pic>
        <p:nvPicPr>
          <p:cNvPr id="32" name="תמונה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34400" y="3229643"/>
            <a:ext cx="1905000" cy="1846513"/>
          </a:xfrm>
          <a:prstGeom prst="rect">
            <a:avLst/>
          </a:prstGeom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45A29914-9EEA-4425-9E68-437B2A23058B}"/>
              </a:ext>
            </a:extLst>
          </p:cNvPr>
          <p:cNvSpPr>
            <a:spLocks noGrp="1"/>
          </p:cNvSpPr>
          <p:nvPr/>
        </p:nvSpPr>
        <p:spPr>
          <a:xfrm>
            <a:off x="7734300" y="5334000"/>
            <a:ext cx="3429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1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לוח המקשים מחובר כמטריצה של שורות ועמודות. הבקר סורק בכל פעם שורה פעילה וקורא את מצב העמודות.</a:t>
            </a:r>
            <a:endParaRPr kumimoji="0" lang="he-IL" altLang="en-US" sz="1125" b="0" i="0" u="none" strike="noStrike" kern="1200" cap="none" spc="0" normalizeH="0" baseline="0" noProof="0" dirty="0">
              <a:ln>
                <a:noFill/>
              </a:ln>
              <a:solidFill>
                <a:srgbClr val="526071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8C722AED-8633-4AD6-B029-D4255928ECDC}"/>
              </a:ext>
            </a:extLst>
          </p:cNvPr>
          <p:cNvSpPr>
            <a:spLocks noGrp="1"/>
          </p:cNvSpPr>
          <p:nvPr/>
        </p:nvSpPr>
        <p:spPr>
          <a:xfrm>
            <a:off x="4154020" y="1687496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סריקת שורות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8B3DD03-1AE4-42FA-A810-87038E86FEFA}"/>
              </a:ext>
            </a:extLst>
          </p:cNvPr>
          <p:cNvSpPr>
            <a:spLocks noGrp="1"/>
          </p:cNvSpPr>
          <p:nvPr/>
        </p:nvSpPr>
        <p:spPr>
          <a:xfrm>
            <a:off x="3982570" y="2201846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הפעלת שורה אחת בכל מחזור</a:t>
            </a:r>
          </a:p>
        </p:txBody>
      </p:sp>
      <p:sp>
        <p:nvSpPr>
          <p:cNvPr id="9" name="חץ: שמאלה 8">
            <a:extLst>
              <a:ext uri="{FF2B5EF4-FFF2-40B4-BE49-F238E27FC236}">
                <a16:creationId xmlns:a16="http://schemas.microsoft.com/office/drawing/2014/main" id="{09978C74-E76A-4C17-A1E0-265A28E3BD74}"/>
              </a:ext>
            </a:extLst>
          </p:cNvPr>
          <p:cNvSpPr>
            <a:spLocks noGrp="1"/>
          </p:cNvSpPr>
          <p:nvPr/>
        </p:nvSpPr>
        <p:spPr>
          <a:xfrm>
            <a:off x="3734920" y="1820846"/>
            <a:ext cx="323850" cy="171450"/>
          </a:xfrm>
          <a:prstGeom prst="left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8C0BF565-A42A-4C31-95A2-6865F08FC196}"/>
              </a:ext>
            </a:extLst>
          </p:cNvPr>
          <p:cNvSpPr>
            <a:spLocks noGrp="1"/>
          </p:cNvSpPr>
          <p:nvPr/>
        </p:nvSpPr>
        <p:spPr>
          <a:xfrm>
            <a:off x="2058520" y="1687496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קראית עמודות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B30878D2-7D9E-4917-ACDD-D945582CA80B}"/>
              </a:ext>
            </a:extLst>
          </p:cNvPr>
          <p:cNvSpPr>
            <a:spLocks noGrp="1"/>
          </p:cNvSpPr>
          <p:nvPr/>
        </p:nvSpPr>
        <p:spPr>
          <a:xfrm>
            <a:off x="1887070" y="2201846"/>
            <a:ext cx="2000250" cy="378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פעילה עמודה לפי לחיצה זיהוי</a:t>
            </a:r>
          </a:p>
        </p:txBody>
      </p:sp>
      <p:sp>
        <p:nvSpPr>
          <p:cNvPr id="12" name="חץ: למטה 11">
            <a:extLst>
              <a:ext uri="{FF2B5EF4-FFF2-40B4-BE49-F238E27FC236}">
                <a16:creationId xmlns:a16="http://schemas.microsoft.com/office/drawing/2014/main" id="{B0E915C8-9CC1-4BD1-A55E-27AD27143A29}"/>
              </a:ext>
            </a:extLst>
          </p:cNvPr>
          <p:cNvSpPr>
            <a:spLocks noGrp="1"/>
          </p:cNvSpPr>
          <p:nvPr/>
        </p:nvSpPr>
        <p:spPr>
          <a:xfrm>
            <a:off x="2744320" y="2571080"/>
            <a:ext cx="247650" cy="266700"/>
          </a:xfrm>
          <a:prstGeom prst="downArrow">
            <a:avLst/>
          </a:prstGeom>
          <a:solidFill>
            <a:srgbClr val="2563EB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7A9D9251-61CE-44FB-8A14-5C80D416CA5E}"/>
              </a:ext>
            </a:extLst>
          </p:cNvPr>
          <p:cNvSpPr>
            <a:spLocks noGrp="1"/>
          </p:cNvSpPr>
          <p:nvPr/>
        </p:nvSpPr>
        <p:spPr>
          <a:xfrm>
            <a:off x="4154020" y="2897171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דיבאונס</a:t>
            </a:r>
            <a:endParaRPr kumimoji="0" lang="he-IL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11182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087CD306-4169-455F-9660-FDB8344C4CB4}"/>
              </a:ext>
            </a:extLst>
          </p:cNvPr>
          <p:cNvSpPr>
            <a:spLocks noGrp="1"/>
          </p:cNvSpPr>
          <p:nvPr/>
        </p:nvSpPr>
        <p:spPr>
          <a:xfrm>
            <a:off x="3982570" y="3387426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סינון רעידות מגע קצרות</a:t>
            </a:r>
          </a:p>
        </p:txBody>
      </p:sp>
      <p:sp>
        <p:nvSpPr>
          <p:cNvPr id="15" name="חץ: שמאלה 14">
            <a:extLst>
              <a:ext uri="{FF2B5EF4-FFF2-40B4-BE49-F238E27FC236}">
                <a16:creationId xmlns:a16="http://schemas.microsoft.com/office/drawing/2014/main" id="{25AF6A1C-5AB2-4268-812C-F868FB572020}"/>
              </a:ext>
            </a:extLst>
          </p:cNvPr>
          <p:cNvSpPr>
            <a:spLocks noGrp="1"/>
          </p:cNvSpPr>
          <p:nvPr/>
        </p:nvSpPr>
        <p:spPr>
          <a:xfrm>
            <a:off x="3734920" y="3044864"/>
            <a:ext cx="323850" cy="171450"/>
          </a:xfrm>
          <a:prstGeom prst="left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5058FBDA-5D72-4FCC-99DB-9F212D3445D1}"/>
              </a:ext>
            </a:extLst>
          </p:cNvPr>
          <p:cNvSpPr>
            <a:spLocks noGrp="1"/>
          </p:cNvSpPr>
          <p:nvPr/>
        </p:nvSpPr>
        <p:spPr>
          <a:xfrm>
            <a:off x="2058520" y="2911514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פענוח מקש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8067CD3-CEF0-40EA-ABC1-1EE82CDADC44}"/>
              </a:ext>
            </a:extLst>
          </p:cNvPr>
          <p:cNvSpPr>
            <a:spLocks noGrp="1"/>
          </p:cNvSpPr>
          <p:nvPr/>
        </p:nvSpPr>
        <p:spPr>
          <a:xfrm>
            <a:off x="1887070" y="3386307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תרגום מיקום למספר או סימן</a:t>
            </a:r>
          </a:p>
        </p:txBody>
      </p:sp>
      <p:sp>
        <p:nvSpPr>
          <p:cNvPr id="18" name="חץ: למטה 17">
            <a:extLst>
              <a:ext uri="{FF2B5EF4-FFF2-40B4-BE49-F238E27FC236}">
                <a16:creationId xmlns:a16="http://schemas.microsoft.com/office/drawing/2014/main" id="{6345F971-BDC7-41E5-9D5A-D525758DC46D}"/>
              </a:ext>
            </a:extLst>
          </p:cNvPr>
          <p:cNvSpPr>
            <a:spLocks noGrp="1"/>
          </p:cNvSpPr>
          <p:nvPr/>
        </p:nvSpPr>
        <p:spPr>
          <a:xfrm>
            <a:off x="2744320" y="3765178"/>
            <a:ext cx="247650" cy="266700"/>
          </a:xfrm>
          <a:prstGeom prst="downArrow">
            <a:avLst/>
          </a:prstGeom>
          <a:solidFill>
            <a:srgbClr val="15803D"/>
          </a:solidFill>
          <a:ln w="4763">
            <a:solidFill>
              <a:srgbClr val="15803D"/>
            </a:solidFill>
            <a:prstDash val="solid"/>
          </a:ln>
        </p:spPr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72194F3A-5A83-495D-AF9B-3D9B281A7818}"/>
              </a:ext>
            </a:extLst>
          </p:cNvPr>
          <p:cNvSpPr>
            <a:spLocks noGrp="1"/>
          </p:cNvSpPr>
          <p:nvPr/>
        </p:nvSpPr>
        <p:spPr>
          <a:xfrm>
            <a:off x="4192120" y="4113012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בדיקת קוד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CBF072BE-A512-4A51-B145-B8C239A6EE4D}"/>
              </a:ext>
            </a:extLst>
          </p:cNvPr>
          <p:cNvSpPr>
            <a:spLocks noGrp="1"/>
          </p:cNvSpPr>
          <p:nvPr/>
        </p:nvSpPr>
        <p:spPr>
          <a:xfrm>
            <a:off x="3982570" y="4638006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השוואה מול קוד שמור ללא הצגתו</a:t>
            </a:r>
          </a:p>
        </p:txBody>
      </p:sp>
      <p:sp>
        <p:nvSpPr>
          <p:cNvPr id="21" name="חץ: שמאלה 20">
            <a:extLst>
              <a:ext uri="{FF2B5EF4-FFF2-40B4-BE49-F238E27FC236}">
                <a16:creationId xmlns:a16="http://schemas.microsoft.com/office/drawing/2014/main" id="{5D637619-6502-4AC8-8A31-750AC59DD8F2}"/>
              </a:ext>
            </a:extLst>
          </p:cNvPr>
          <p:cNvSpPr>
            <a:spLocks noGrp="1"/>
          </p:cNvSpPr>
          <p:nvPr/>
        </p:nvSpPr>
        <p:spPr>
          <a:xfrm>
            <a:off x="3753410" y="4236272"/>
            <a:ext cx="323850" cy="171450"/>
          </a:xfrm>
          <a:prstGeom prst="leftArrow">
            <a:avLst/>
          </a:prstGeom>
          <a:solidFill>
            <a:srgbClr val="B45309"/>
          </a:solidFill>
          <a:ln w="4763">
            <a:solidFill>
              <a:srgbClr val="B45309"/>
            </a:solidFill>
            <a:prstDash val="solid"/>
          </a:ln>
        </p:spPr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92CD9793-A35A-4A78-BEFB-2F88A16B1CB1}"/>
              </a:ext>
            </a:extLst>
          </p:cNvPr>
          <p:cNvSpPr>
            <a:spLocks noGrp="1"/>
          </p:cNvSpPr>
          <p:nvPr/>
        </p:nvSpPr>
        <p:spPr>
          <a:xfrm>
            <a:off x="2058520" y="4059781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93976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kumimoji="0" lang="he-IL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בקשת פתיחה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0E0E1D2-9822-44B0-8F8E-8066A157D0A9}"/>
              </a:ext>
            </a:extLst>
          </p:cNvPr>
          <p:cNvSpPr>
            <a:spLocks noGrp="1"/>
          </p:cNvSpPr>
          <p:nvPr/>
        </p:nvSpPr>
        <p:spPr>
          <a:xfrm>
            <a:off x="1887070" y="4631281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he-IL" altLang="en-US" sz="12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0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האות  </a:t>
            </a:r>
            <a:r>
              <a:rPr lang="en-US" altLang="en-US" sz="1200" dirty="0" err="1">
                <a:solidFill>
                  <a:srgbClr val="526071"/>
                </a:solidFill>
                <a:latin typeface="Arial"/>
                <a:ea typeface="Arial"/>
                <a:cs typeface="Arial"/>
              </a:rPr>
              <a:t>open_reg</a:t>
            </a:r>
            <a:r>
              <a:rPr lang="he-IL" altLang="en-US" sz="120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נשלח ללוגיקת המערכת</a:t>
            </a:r>
            <a:endParaRPr kumimoji="0" lang="he-IL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26071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3FC64FBF-2B4B-49BB-A65A-E86DA57A36A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6AD43655-7872-4134-869B-CF377F8E7D31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07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47151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B3D43344-D1A8-41E1-9DDD-187762C8FA5A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המשך חומרה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6DEFE6F-34A3-4515-B0C0-6C91808FFB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pic>
        <p:nvPicPr>
          <p:cNvPr id="41" name="תמונה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250" y="1076325"/>
            <a:ext cx="11124050" cy="5274945"/>
          </a:xfrm>
          <a:prstGeom prst="rect">
            <a:avLst/>
          </a:prstGeom>
        </p:spPr>
      </p:pic>
      <p:sp>
        <p:nvSpPr>
          <p:cNvPr id="21" name="מלבן 20">
            <a:extLst>
              <a:ext uri="{FF2B5EF4-FFF2-40B4-BE49-F238E27FC236}">
                <a16:creationId xmlns:a16="http://schemas.microsoft.com/office/drawing/2014/main" id="{446544B4-5695-4E6C-9CA6-582F9D46E31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0047B9FF-FDC0-4C3A-B32F-9B786B501CFD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8087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B8FB8096-C98E-4FBC-B1DA-D7D49B645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228" y="71718"/>
            <a:ext cx="9364723" cy="66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3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57E27D19-381A-4458-A8A8-3D54E9BEFB87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בדיקות המערכת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C6B0A50-1378-4A4C-AE04-80D410DB05F8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pic>
        <p:nvPicPr>
          <p:cNvPr id="17" name="תמונה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39740" y="1036320"/>
            <a:ext cx="6050280" cy="1977390"/>
          </a:xfrm>
          <a:prstGeom prst="rect">
            <a:avLst/>
          </a:prstGeom>
        </p:spPr>
      </p:pic>
      <p:pic>
        <p:nvPicPr>
          <p:cNvPr id="18" name="תמונה 17"/>
          <p:cNvPicPr>
            <a:picLocks noChangeAspect="1"/>
          </p:cNvPicPr>
          <p:nvPr/>
        </p:nvPicPr>
        <p:blipFill>
          <a:blip r:embed="rId4"/>
          <a:srcRect t="20591" b="20591"/>
          <a:stretch>
            <a:fillRect/>
          </a:stretch>
        </p:blipFill>
        <p:spPr>
          <a:xfrm>
            <a:off x="876300" y="1333500"/>
            <a:ext cx="4171950" cy="4362450"/>
          </a:xfrm>
          <a:prstGeom prst="rect">
            <a:avLst/>
          </a:prstGeom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CDEB04F0-C365-4E48-A923-F01AF28809AB}"/>
              </a:ext>
            </a:extLst>
          </p:cNvPr>
          <p:cNvSpPr>
            <a:spLocks noGrp="1"/>
          </p:cNvSpPr>
          <p:nvPr/>
        </p:nvSpPr>
        <p:spPr>
          <a:xfrm>
            <a:off x="6572250" y="31623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95250" rIns="114300" bIns="95250" anchor="ctr">
            <a:normAutofit fontScale="96530" lnSpcReduction="1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42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Vivado</a:t>
            </a:r>
            <a:r>
              <a:rPr lang="he-IL" altLang="en-US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סימולציות ב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0C85E5D5-9A05-4715-BE53-C373224AA6E9}"/>
              </a:ext>
            </a:extLst>
          </p:cNvPr>
          <p:cNvSpPr>
            <a:spLocks noGrp="1"/>
          </p:cNvSpPr>
          <p:nvPr/>
        </p:nvSpPr>
        <p:spPr>
          <a:xfrm>
            <a:off x="8991600" y="3181350"/>
            <a:ext cx="2152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10000"/>
              </a:lnSpc>
              <a:buNone/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מחלק התדר הפיק תדר של 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Hz</a:t>
            </a:r>
            <a:r>
              <a:rPr lang="he-IL" altLang="en-US" sz="1275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500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ורצפי הפאזות אושרו לשני כיווני הסיבוב.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8E1DD366-990E-4B4C-846A-A047ED1C9AB8}"/>
              </a:ext>
            </a:extLst>
          </p:cNvPr>
          <p:cNvSpPr>
            <a:spLocks noGrp="1"/>
          </p:cNvSpPr>
          <p:nvPr/>
        </p:nvSpPr>
        <p:spPr>
          <a:xfrm>
            <a:off x="6572250" y="39624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  <p:txBody>
          <a:bodyPr wrap="square" lIns="114300" tIns="95250" rIns="114300" bIns="95250" anchor="ctr">
            <a:normAutofit fontScale="96530" lnSpcReduction="10000"/>
          </a:bodyPr>
          <a:lstStyle/>
          <a:p>
            <a:pPr algn="ctr">
              <a:lnSpc>
                <a:spcPct val="105000"/>
              </a:lnSpc>
              <a:buNone/>
              <a:defRPr lang="he-IL" altLang="en-US"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בדיקות ב</a:t>
            </a:r>
            <a:r>
              <a:rPr lang="en-US" altLang="en-US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PYNQ</a:t>
            </a:r>
            <a:endParaRPr lang="he-IL" altLang="en-US"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96EA89ED-EC02-43E7-9BEA-20E824762056}"/>
              </a:ext>
            </a:extLst>
          </p:cNvPr>
          <p:cNvSpPr>
            <a:spLocks noGrp="1"/>
          </p:cNvSpPr>
          <p:nvPr/>
        </p:nvSpPr>
        <p:spPr>
          <a:xfrm>
            <a:off x="8991600" y="3981450"/>
            <a:ext cx="2152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10000"/>
              </a:lnSpc>
              <a:buNone/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טעינת 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Overlay </a:t>
            </a: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אתחול 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 GPIO </a:t>
            </a:r>
            <a:r>
              <a:rPr lang="he-IL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 והפעלת מודלי </a:t>
            </a:r>
            <a:r>
              <a:rPr lang="en-US" altLang="en-US" sz="1275" b="0" dirty="0" err="1">
                <a:solidFill>
                  <a:srgbClr val="526071"/>
                </a:solidFill>
                <a:latin typeface="Arial"/>
                <a:ea typeface="Arial"/>
                <a:cs typeface="Arial"/>
              </a:rPr>
              <a:t>Haar</a:t>
            </a:r>
            <a:r>
              <a:rPr lang="en-US" altLang="en-US" sz="12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/LBPH </a:t>
            </a:r>
            <a:endParaRPr lang="he-IL" altLang="en-US" sz="12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DDBB9758-9538-440D-9CA7-FF459088A262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1430">
            <a:solidFill>
              <a:srgbClr val="B45309"/>
            </a:solidFill>
            <a:prstDash val="solid"/>
          </a:ln>
        </p:spPr>
        <p:txBody>
          <a:bodyPr wrap="square" lIns="114300" tIns="95250" rIns="114300" bIns="95250" anchor="ctr">
            <a:normAutofit fontScale="96530" lnSpcReduction="1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בדיקה מערכתית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DF3863C-3096-4705-9350-D6D51248E4EA}"/>
              </a:ext>
            </a:extLst>
          </p:cNvPr>
          <p:cNvSpPr>
            <a:spLocks noGrp="1"/>
          </p:cNvSpPr>
          <p:nvPr/>
        </p:nvSpPr>
        <p:spPr>
          <a:xfrm>
            <a:off x="8991600" y="4781550"/>
            <a:ext cx="2152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10000"/>
              </a:lnSpc>
              <a:buNone/>
              <a:defRPr lang="he-IL" altLang="en-US"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פתיחה, מעקב אחר מצב הדלת, נעילה מחדש ושליחת התראות </a:t>
            </a:r>
            <a:r>
              <a:rPr lang="en-US" dirty="0"/>
              <a:t>Telegram.</a:t>
            </a:r>
            <a:endParaRPr lang="he-IL" altLang="en-US" sz="127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C61A5E7-8BE2-4CB4-8729-51DDC9E4BBA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2DCEDD24-669F-4B36-B1F6-2F4BF7B378A0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6535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9A7B98F4-3425-456D-B2FE-9C5C9B32D5B0}"/>
              </a:ext>
            </a:extLst>
          </p:cNvPr>
          <p:cNvSpPr>
            <a:spLocks noGrp="1"/>
          </p:cNvSpPr>
          <p:nvPr/>
        </p:nvSpPr>
        <p:spPr>
          <a:xfrm>
            <a:off x="3476625" y="323850"/>
            <a:ext cx="800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5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תוצאות ומסקנות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38A6434E-EE8A-4992-87EF-3C9726C8CD2D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10820400" cy="13335"/>
          </a:xfrm>
          <a:prstGeom prst="rect">
            <a:avLst/>
          </a:prstGeom>
          <a:solidFill>
            <a:srgbClr val="B8C0CB"/>
          </a:solidFill>
          <a:ln w="0">
            <a:noFill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6D83040-689B-4FBE-B319-FB8B4F9F51FA}"/>
              </a:ext>
            </a:extLst>
          </p:cNvPr>
          <p:cNvSpPr>
            <a:spLocks noGrp="1"/>
          </p:cNvSpPr>
          <p:nvPr/>
        </p:nvSpPr>
        <p:spPr>
          <a:xfrm>
            <a:off x="1485900" y="1390650"/>
            <a:ext cx="9239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08000"/>
              </a:lnSpc>
              <a:buNone/>
              <a:defRPr lang="he-IL" altLang="en-US"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23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הבדיקות הראו שניתן לשלב </a:t>
            </a:r>
            <a:r>
              <a:rPr lang="en-US" altLang="en-US" sz="23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FPGA, Python, </a:t>
            </a:r>
            <a:r>
              <a:rPr lang="he-IL" altLang="en-US" sz="23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חיישנים, ראייה ממוחשבת ותקשורת רשת במערכת בקרת כניסה אחת.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DCB1751C-D237-4384-9C60-C9701BF6CA4F}"/>
              </a:ext>
            </a:extLst>
          </p:cNvPr>
          <p:cNvSpPr>
            <a:spLocks noGrp="1"/>
          </p:cNvSpPr>
          <p:nvPr/>
        </p:nvSpPr>
        <p:spPr>
          <a:xfrm>
            <a:off x="8001000" y="27051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9133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PS/PL  חלוקת 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EA1B5A0-0111-4613-8056-B06B4A3FBA60}"/>
              </a:ext>
            </a:extLst>
          </p:cNvPr>
          <p:cNvSpPr>
            <a:spLocks noGrp="1"/>
          </p:cNvSpPr>
          <p:nvPr/>
        </p:nvSpPr>
        <p:spPr>
          <a:xfrm>
            <a:off x="2152650" y="2724150"/>
            <a:ext cx="561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05000"/>
              </a:lnSpc>
              <a:defRPr lang="he-IL" altLang="en-US" sz="14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עיבוד תמונה וניהול המערכת ב-</a:t>
            </a:r>
            <a:r>
              <a:rPr lang="en-US" dirty="0"/>
              <a:t> PS  </a:t>
            </a:r>
            <a:r>
              <a:rPr lang="he-IL" dirty="0"/>
              <a:t>ובקרת המנוע והתזמון ב-</a:t>
            </a:r>
            <a:r>
              <a:rPr lang="en-US" dirty="0"/>
              <a:t>PL </a:t>
            </a:r>
            <a:endParaRPr lang="he-IL" altLang="en-US" sz="142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A7238168-6840-468A-9E41-0DB7D4BFE95D}"/>
              </a:ext>
            </a:extLst>
          </p:cNvPr>
          <p:cNvSpPr>
            <a:spLocks noGrp="1"/>
          </p:cNvSpPr>
          <p:nvPr/>
        </p:nvSpPr>
        <p:spPr>
          <a:xfrm>
            <a:off x="8001000" y="33147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9133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אמינות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D666668-335B-4D2C-B7BD-0C79DE8C8560}"/>
              </a:ext>
            </a:extLst>
          </p:cNvPr>
          <p:cNvSpPr>
            <a:spLocks noGrp="1"/>
          </p:cNvSpPr>
          <p:nvPr/>
        </p:nvSpPr>
        <p:spPr>
          <a:xfrm>
            <a:off x="2152650" y="3333750"/>
            <a:ext cx="561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4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חיישן הדלת מנע נעילה כאשר הדלת עדיין פתוחה.</a:t>
            </a:r>
            <a:endParaRPr lang="he-IL" altLang="en-US" sz="142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B8E9F11C-D63D-4C88-A9DA-27BF56CF06EE}"/>
              </a:ext>
            </a:extLst>
          </p:cNvPr>
          <p:cNvSpPr>
            <a:spLocks noGrp="1"/>
          </p:cNvSpPr>
          <p:nvPr/>
        </p:nvSpPr>
        <p:spPr>
          <a:xfrm>
            <a:off x="8001000" y="39243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9133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עמידות תפעולית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13D150A-C2D3-4A6A-9CC0-CE0A162A7713}"/>
              </a:ext>
            </a:extLst>
          </p:cNvPr>
          <p:cNvSpPr>
            <a:spLocks noGrp="1"/>
          </p:cNvSpPr>
          <p:nvPr/>
        </p:nvSpPr>
        <p:spPr>
          <a:xfrm>
            <a:off x="2152650" y="39433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4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לוח המקשים סיפק מסלול גיבוי כאשר זיהוי הפנים לא הצליח.</a:t>
            </a:r>
            <a:endParaRPr lang="he-IL" altLang="en-US" sz="142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CD330206-4EFE-4220-9A61-FE9B58AF8208}"/>
              </a:ext>
            </a:extLst>
          </p:cNvPr>
          <p:cNvSpPr>
            <a:spLocks noGrp="1"/>
          </p:cNvSpPr>
          <p:nvPr/>
        </p:nvSpPr>
        <p:spPr>
          <a:xfrm>
            <a:off x="8001000" y="45339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 w="11430">
            <a:solidFill>
              <a:srgbClr val="B8C0CB"/>
            </a:solidFill>
            <a:prstDash val="solid"/>
          </a:ln>
        </p:spPr>
        <p:txBody>
          <a:bodyPr wrap="square" lIns="114300" tIns="95250" rIns="114300" bIns="95250" anchor="ctr">
            <a:normAutofit fontScale="9133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אבטחה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440D97F-B384-44F4-84BA-6954A0E9FBE7}"/>
              </a:ext>
            </a:extLst>
          </p:cNvPr>
          <p:cNvSpPr>
            <a:spLocks noGrp="1"/>
          </p:cNvSpPr>
          <p:nvPr/>
        </p:nvSpPr>
        <p:spPr>
          <a:xfrm>
            <a:off x="2152650" y="45529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>
              <a:lnSpc>
                <a:spcPct val="105000"/>
              </a:lnSpc>
              <a:buNone/>
              <a:defRPr lang="he-IL" altLang="en-US" sz="14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מנגנון </a:t>
            </a:r>
            <a:r>
              <a:rPr lang="en-US" dirty="0"/>
              <a:t>Lockout </a:t>
            </a:r>
            <a:r>
              <a:rPr lang="he-IL" dirty="0"/>
              <a:t> והתרעות בזמן אמת טיפלו בניסיונות חריגים.</a:t>
            </a:r>
            <a:endParaRPr lang="he-IL" altLang="en-US" sz="142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83E6C703-D1F3-4627-AAC0-787E3ABB8DFA}"/>
              </a:ext>
            </a:extLst>
          </p:cNvPr>
          <p:cNvSpPr>
            <a:spLocks noGrp="1"/>
          </p:cNvSpPr>
          <p:nvPr/>
        </p:nvSpPr>
        <p:spPr>
          <a:xfrm>
            <a:off x="8001000" y="5143500"/>
            <a:ext cx="2000250" cy="400050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  <p:txBody>
          <a:bodyPr wrap="square" lIns="114300" tIns="95250" rIns="114300" bIns="95250" anchor="ctr">
            <a:normAutofit fontScale="91339" lnSpcReduction="20000"/>
          </a:bodyPr>
          <a:lstStyle/>
          <a:p>
            <a:pPr algn="ctr" rtl="0">
              <a:lnSpc>
                <a:spcPct val="105000"/>
              </a:lnSpc>
              <a:buNone/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מגבלות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12D22EA6-A47A-4146-91B3-225FD7C063CC}"/>
              </a:ext>
            </a:extLst>
          </p:cNvPr>
          <p:cNvSpPr>
            <a:spLocks noGrp="1"/>
          </p:cNvSpPr>
          <p:nvPr/>
        </p:nvSpPr>
        <p:spPr>
          <a:xfrm>
            <a:off x="2152650" y="5162550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r" rtl="0">
              <a:lnSpc>
                <a:spcPct val="105000"/>
              </a:lnSpc>
              <a:buNone/>
              <a:defRPr lang="he-IL" altLang="en-US" sz="14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דיוק הזיהוי תלוי בתאורה, בזווית הצילום ובאיכות תמונות האימון.</a:t>
            </a:r>
            <a:endParaRPr lang="he-IL" altLang="en-US" sz="1425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4DB79D95-1A56-435B-80BD-6B213ADB42C2}"/>
              </a:ext>
            </a:extLst>
          </p:cNvPr>
          <p:cNvSpPr>
            <a:spLocks noGrp="1"/>
          </p:cNvSpPr>
          <p:nvPr/>
        </p:nvSpPr>
        <p:spPr>
          <a:xfrm>
            <a:off x="1790700" y="5867400"/>
            <a:ext cx="8610600" cy="4572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 wrap="square" lIns="114300" tIns="38100" rIns="114300" bIns="38100" anchor="ctr">
            <a:noAutofit/>
          </a:bodyPr>
          <a:lstStyle/>
          <a:p>
            <a:pPr algn="ctr" rtl="0">
              <a:lnSpc>
                <a:spcPct val="102000"/>
              </a:lnSpc>
              <a:defRPr lang="he-IL" altLang="en-US"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הרחבות עתידיות: שיפור מודל הזיהוי, ריבוי משתמשים וממשק ניהול מרחוק</a:t>
            </a:r>
            <a:endParaRPr lang="he-IL" altLang="en-US" sz="13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A0304823-6C00-438C-961A-5C51EB0E4B3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229126D-BC41-4CC6-9B4E-1D9ED1110441}"/>
              </a:ext>
            </a:extLst>
          </p:cNvPr>
          <p:cNvSpPr>
            <a:spLocks noGrp="1"/>
          </p:cNvSpPr>
          <p:nvPr/>
        </p:nvSpPr>
        <p:spPr>
          <a:xfrm>
            <a:off x="7143750" y="6438900"/>
            <a:ext cx="436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PYNQ-Z2 Smart Lock |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43355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BEE6731-AB97-4E7A-A813-BF3373E6994D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1005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33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פרויקט זה הציג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3D32280-D584-4D35-A164-03DAFE5CBD9B}"/>
              </a:ext>
            </a:extLst>
          </p:cNvPr>
          <p:cNvSpPr>
            <a:spLocks noGrp="1"/>
          </p:cNvSpPr>
          <p:nvPr/>
        </p:nvSpPr>
        <p:spPr>
          <a:xfrm>
            <a:off x="1809750" y="1762125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08000"/>
              </a:lnSpc>
              <a:defRPr lang="he-IL" altLang="en-US"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מימוש מלא של מערכת מנעול חכם, המשלבת חומרה מתוכנתת, תוכנה משובצת וזיהוי פנים בתהליך כניסה מבוקר.</a:t>
            </a:r>
          </a:p>
          <a:p>
            <a:pPr algn="ctr" rtl="0">
              <a:lnSpc>
                <a:spcPct val="108000"/>
              </a:lnSpc>
              <a:buNone/>
              <a:defRPr lang="he-IL" altLang="en-US"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lang="he-IL" altLang="en-US" sz="21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8273EDB-3D86-4C40-AA32-5282FDC678D4}"/>
              </a:ext>
            </a:extLst>
          </p:cNvPr>
          <p:cNvSpPr>
            <a:spLocks noGrp="1"/>
          </p:cNvSpPr>
          <p:nvPr/>
        </p:nvSpPr>
        <p:spPr>
          <a:xfrm>
            <a:off x="2324100" y="3219450"/>
            <a:ext cx="7524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buNone/>
              <a:defRPr lang="he-IL" altLang="en-US" sz="16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המערכת מקבלת החלטות לפי אירועים מהסביבה, ולא לפי הפעלה רציפה של כל הרכיבים. מנגנון הדלת וה-</a:t>
            </a:r>
            <a:r>
              <a:rPr lang="en-US" dirty="0"/>
              <a:t> Lockout </a:t>
            </a:r>
            <a:r>
              <a:rPr lang="he-IL" dirty="0"/>
              <a:t>מוסיפים שכבת בטיחות ואבטחה מעבר לפעולת הפתיחה עצמה. הפרויקט מדגים תהליך הנדסי מלא: תכנון, חיבור, מימוש, בדיקה והפקת מסקנות.</a:t>
            </a:r>
            <a:endParaRPr lang="he-IL" altLang="en-US" sz="1650" b="0" dirty="0">
              <a:solidFill>
                <a:srgbClr val="52607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7872E31-4146-42F6-857C-37DCCC722AB5}"/>
              </a:ext>
            </a:extLst>
          </p:cNvPr>
          <p:cNvSpPr>
            <a:spLocks noGrp="1"/>
          </p:cNvSpPr>
          <p:nvPr/>
        </p:nvSpPr>
        <p:spPr>
          <a:xfrm>
            <a:off x="3771900" y="5219700"/>
            <a:ext cx="4648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 rtl="0">
              <a:lnSpc>
                <a:spcPct val="105000"/>
              </a:lnSpc>
              <a:buNone/>
              <a:defRPr lang="he-IL" altLang="en-US" sz="3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he-IL" altLang="en-US" sz="3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שאלות</a:t>
            </a:r>
          </a:p>
        </p:txBody>
      </p:sp>
    </p:spTree>
    <p:extLst>
      <p:ext uri="{BB962C8B-B14F-4D97-AF65-F5344CB8AC3E}">
        <p14:creationId xmlns:p14="http://schemas.microsoft.com/office/powerpoint/2010/main" val="8974087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1375</Words>
  <Application>Microsoft Office PowerPoint</Application>
  <DocSecurity>0</DocSecurity>
  <PresentationFormat>מסך רחב</PresentationFormat>
  <Paragraphs>225</Paragraphs>
  <Slides>15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subalo belay</cp:lastModifiedBy>
  <cp:revision>19</cp:revision>
  <dcterms:created xsi:type="dcterms:W3CDTF">2026-09-08T11:04:11Z</dcterms:created>
  <dcterms:modified xsi:type="dcterms:W3CDTF">2026-09-15T06:26:48Z</dcterms:modified>
</cp:coreProperties>
</file>